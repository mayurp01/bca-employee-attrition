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817" y="2118677"/>
            <a:ext cx="7625080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892" y="-6413"/>
            <a:ext cx="10356214" cy="1297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892" y="1667890"/>
            <a:ext cx="5697855" cy="3606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8215" y="4840330"/>
            <a:ext cx="3646170" cy="1007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130"/>
              </a:lnSpc>
            </a:pPr>
            <a:r>
              <a:rPr dirty="0" sz="4000" spc="-20">
                <a:solidFill>
                  <a:srgbClr val="B81F53"/>
                </a:solidFill>
                <a:latin typeface="Courier New"/>
                <a:cs typeface="Courier New"/>
              </a:rPr>
              <a:t>INTRODUCTION</a:t>
            </a:r>
            <a:endParaRPr sz="4000">
              <a:latin typeface="Courier New"/>
              <a:cs typeface="Courier New"/>
            </a:endParaRPr>
          </a:p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dirty="0" sz="2800">
                <a:latin typeface="Courier New"/>
                <a:cs typeface="Courier New"/>
              </a:rPr>
              <a:t>FOR</a:t>
            </a:r>
            <a:r>
              <a:rPr dirty="0" sz="2800" spc="-6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NEW</a:t>
            </a:r>
            <a:r>
              <a:rPr dirty="0" sz="2800" spc="-70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EMPLOYEES</a:t>
            </a:r>
            <a:endParaRPr sz="2800">
              <a:latin typeface="Courier New"/>
              <a:cs typeface="Courier New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4880" y="755904"/>
              <a:ext cx="3602736" cy="6096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solidFill>
                  <a:srgbClr val="B81F53"/>
                </a:solidFill>
              </a:rPr>
              <a:t>21CSA391A</a:t>
            </a:r>
            <a:r>
              <a:rPr dirty="0" sz="4000" spc="-80">
                <a:solidFill>
                  <a:srgbClr val="B81F53"/>
                </a:solidFill>
              </a:rPr>
              <a:t> </a:t>
            </a:r>
            <a:r>
              <a:rPr dirty="0" sz="4000">
                <a:solidFill>
                  <a:srgbClr val="B81F53"/>
                </a:solidFill>
              </a:rPr>
              <a:t>–</a:t>
            </a:r>
            <a:r>
              <a:rPr dirty="0" sz="4000" spc="-75">
                <a:solidFill>
                  <a:srgbClr val="B81F53"/>
                </a:solidFill>
              </a:rPr>
              <a:t> </a:t>
            </a:r>
            <a:r>
              <a:rPr dirty="0" sz="4000">
                <a:solidFill>
                  <a:srgbClr val="B81F53"/>
                </a:solidFill>
              </a:rPr>
              <a:t>Minor</a:t>
            </a:r>
            <a:r>
              <a:rPr dirty="0" sz="4000" spc="-70">
                <a:solidFill>
                  <a:srgbClr val="B81F53"/>
                </a:solidFill>
              </a:rPr>
              <a:t> </a:t>
            </a:r>
            <a:r>
              <a:rPr dirty="0" sz="4000" spc="-10">
                <a:solidFill>
                  <a:srgbClr val="B81F53"/>
                </a:solidFill>
              </a:rPr>
              <a:t>Project</a:t>
            </a:r>
            <a:endParaRPr sz="4000"/>
          </a:p>
        </p:txBody>
      </p:sp>
      <p:sp>
        <p:nvSpPr>
          <p:cNvPr id="7" name="object 7" descr=""/>
          <p:cNvSpPr txBox="1"/>
          <p:nvPr/>
        </p:nvSpPr>
        <p:spPr>
          <a:xfrm>
            <a:off x="571817" y="3725862"/>
            <a:ext cx="38582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 b="1" i="1">
                <a:solidFill>
                  <a:srgbClr val="A81C49"/>
                </a:solidFill>
                <a:latin typeface="Arial"/>
                <a:cs typeface="Arial"/>
              </a:rPr>
              <a:t>DATE</a:t>
            </a:r>
            <a:r>
              <a:rPr dirty="0" sz="3600" spc="-229" b="1" i="1">
                <a:solidFill>
                  <a:srgbClr val="A81C49"/>
                </a:solidFill>
                <a:latin typeface="Arial"/>
                <a:cs typeface="Arial"/>
              </a:rPr>
              <a:t> </a:t>
            </a:r>
            <a:r>
              <a:rPr dirty="0" sz="3600" b="1" i="1">
                <a:solidFill>
                  <a:srgbClr val="A81C49"/>
                </a:solidFill>
                <a:latin typeface="Arial"/>
                <a:cs typeface="Arial"/>
              </a:rPr>
              <a:t>:</a:t>
            </a:r>
            <a:r>
              <a:rPr dirty="0" sz="3600" spc="-105" b="1" i="1">
                <a:solidFill>
                  <a:srgbClr val="A81C49"/>
                </a:solidFill>
                <a:latin typeface="Arial"/>
                <a:cs typeface="Arial"/>
              </a:rPr>
              <a:t> </a:t>
            </a:r>
            <a:r>
              <a:rPr dirty="0" sz="3600" spc="-40" b="1" i="1">
                <a:solidFill>
                  <a:srgbClr val="A81C49"/>
                </a:solidFill>
                <a:latin typeface="Arial"/>
                <a:cs typeface="Arial"/>
              </a:rPr>
              <a:t>12.01.2026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7892" y="2212149"/>
            <a:ext cx="8996680" cy="305308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ourier New"/>
                <a:cs typeface="Courier New"/>
              </a:rPr>
              <a:t>Employee</a:t>
            </a:r>
            <a:r>
              <a:rPr dirty="0" sz="2800" spc="-7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Attrition</a:t>
            </a:r>
            <a:r>
              <a:rPr dirty="0" sz="2800" spc="-5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Prediction</a:t>
            </a:r>
            <a:endParaRPr sz="28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ourier New"/>
                <a:cs typeface="Courier New"/>
              </a:rPr>
              <a:t>Pawar</a:t>
            </a:r>
            <a:r>
              <a:rPr dirty="0" sz="2800" spc="-5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Mayur</a:t>
            </a:r>
            <a:r>
              <a:rPr dirty="0" sz="2800" spc="-20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Sharad</a:t>
            </a:r>
            <a:endParaRPr sz="28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 spc="-10">
                <a:latin typeface="Courier New"/>
                <a:cs typeface="Courier New"/>
              </a:rPr>
              <a:t>AA.SC.U3BCA2307009</a:t>
            </a:r>
            <a:endParaRPr sz="28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395"/>
              </a:spcBef>
              <a:buClr>
                <a:srgbClr val="4D4D4B"/>
              </a:buClr>
              <a:buSzPct val="37500"/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ourier New"/>
                <a:cs typeface="Courier New"/>
              </a:rPr>
              <a:t>Program</a:t>
            </a:r>
            <a:r>
              <a:rPr dirty="0" sz="2800" spc="-18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:</a:t>
            </a:r>
            <a:r>
              <a:rPr dirty="0" sz="2800" spc="-15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BCA</a:t>
            </a:r>
            <a:r>
              <a:rPr dirty="0" sz="2800" spc="-16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5TH</a:t>
            </a:r>
            <a:r>
              <a:rPr dirty="0" sz="2800" spc="-180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SEMESTER</a:t>
            </a:r>
            <a:endParaRPr sz="28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ourier New"/>
                <a:cs typeface="Courier New"/>
              </a:rPr>
              <a:t>Semester</a:t>
            </a:r>
            <a:r>
              <a:rPr dirty="0" sz="2800" spc="-23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:</a:t>
            </a:r>
            <a:r>
              <a:rPr dirty="0" sz="2800" spc="-180">
                <a:latin typeface="Courier New"/>
                <a:cs typeface="Courier New"/>
              </a:rPr>
              <a:t> </a:t>
            </a:r>
            <a:r>
              <a:rPr dirty="0" sz="2800" spc="-20">
                <a:latin typeface="Courier New"/>
                <a:cs typeface="Courier New"/>
              </a:rPr>
              <a:t>COMPUTER</a:t>
            </a:r>
            <a:r>
              <a:rPr dirty="0" sz="2800" spc="-204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SCIENCE</a:t>
            </a:r>
            <a:endParaRPr sz="2800">
              <a:latin typeface="Courier New"/>
              <a:cs typeface="Courier New"/>
            </a:endParaRPr>
          </a:p>
          <a:p>
            <a:pPr marL="240665" indent="-227965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800">
                <a:latin typeface="Courier New"/>
                <a:cs typeface="Courier New"/>
              </a:rPr>
              <a:t>Amrita</a:t>
            </a:r>
            <a:r>
              <a:rPr dirty="0" sz="2800" spc="-55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Vishwavidyapeetham</a:t>
            </a:r>
            <a:r>
              <a:rPr dirty="0" sz="2800" spc="-60">
                <a:latin typeface="Courier New"/>
                <a:cs typeface="Courier New"/>
              </a:rPr>
              <a:t> </a:t>
            </a:r>
            <a:r>
              <a:rPr dirty="0" sz="2800">
                <a:latin typeface="Courier New"/>
                <a:cs typeface="Courier New"/>
              </a:rPr>
              <a:t>(Amrita</a:t>
            </a:r>
            <a:r>
              <a:rPr dirty="0" sz="2800" spc="-75">
                <a:latin typeface="Courier New"/>
                <a:cs typeface="Courier New"/>
              </a:rPr>
              <a:t> </a:t>
            </a:r>
            <a:r>
              <a:rPr dirty="0" sz="2800" spc="-10">
                <a:latin typeface="Courier New"/>
                <a:cs typeface="Courier New"/>
              </a:rPr>
              <a:t>Online)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0" y="762000"/>
            <a:ext cx="3616325" cy="605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5967" y="597217"/>
            <a:ext cx="4740910" cy="2985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36363"/>
              <a:buFont typeface="Wingdings"/>
              <a:buChar char=""/>
              <a:tabLst>
                <a:tab pos="240665" algn="l"/>
              </a:tabLst>
            </a:pPr>
            <a:r>
              <a:rPr dirty="0" sz="4400" spc="-10" b="1">
                <a:solidFill>
                  <a:srgbClr val="2C465B"/>
                </a:solidFill>
                <a:latin typeface="Courier New"/>
                <a:cs typeface="Courier New"/>
              </a:rPr>
              <a:t>Introduction</a:t>
            </a:r>
            <a:endParaRPr sz="4400">
              <a:latin typeface="Courier New"/>
              <a:cs typeface="Courier New"/>
            </a:endParaRPr>
          </a:p>
          <a:p>
            <a:pPr marL="482600">
              <a:lnSpc>
                <a:spcPct val="100000"/>
              </a:lnSpc>
              <a:spcBef>
                <a:spcPts val="1420"/>
              </a:spcBef>
            </a:pPr>
            <a:r>
              <a:rPr dirty="0" sz="1600">
                <a:latin typeface="Courier New"/>
                <a:cs typeface="Courier New"/>
              </a:rPr>
              <a:t>Brief</a:t>
            </a:r>
            <a:r>
              <a:rPr dirty="0" sz="1600" spc="-12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background</a:t>
            </a:r>
            <a:r>
              <a:rPr dirty="0" sz="1600" spc="-17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of</a:t>
            </a:r>
            <a:r>
              <a:rPr dirty="0" sz="1600" spc="-80">
                <a:latin typeface="Courier New"/>
                <a:cs typeface="Courier New"/>
              </a:rPr>
              <a:t> </a:t>
            </a:r>
            <a:r>
              <a:rPr dirty="0" sz="1600">
                <a:latin typeface="Courier New"/>
                <a:cs typeface="Courier New"/>
              </a:rPr>
              <a:t>the</a:t>
            </a:r>
            <a:r>
              <a:rPr dirty="0" sz="1600" spc="-100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domain:</a:t>
            </a:r>
            <a:endParaRPr sz="1600">
              <a:latin typeface="Courier New"/>
              <a:cs typeface="Courier New"/>
            </a:endParaRPr>
          </a:p>
          <a:p>
            <a:pPr marL="336550">
              <a:lnSpc>
                <a:spcPct val="100000"/>
              </a:lnSpc>
              <a:spcBef>
                <a:spcPts val="85"/>
              </a:spcBef>
            </a:pPr>
            <a:r>
              <a:rPr dirty="0" sz="1600">
                <a:latin typeface="Calibri"/>
                <a:cs typeface="Calibri"/>
              </a:rPr>
              <a:t>HR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Analytics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-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Employee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Turnover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Analysis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40665" algn="l"/>
              </a:tabLst>
            </a:pPr>
            <a:r>
              <a:rPr dirty="0" sz="1600">
                <a:latin typeface="Calibri"/>
                <a:cs typeface="Calibri"/>
              </a:rPr>
              <a:t>Motivation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choosing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project: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0"/>
              </a:spcBef>
            </a:pPr>
            <a:r>
              <a:rPr dirty="0" sz="1600">
                <a:latin typeface="Calibri"/>
                <a:cs typeface="Calibri"/>
              </a:rPr>
              <a:t>Companies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lose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33%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salary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cost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per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quitting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employee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Font typeface="Wingdings"/>
              <a:buChar char=""/>
              <a:tabLst>
                <a:tab pos="240665" algn="l"/>
              </a:tabLst>
            </a:pPr>
            <a:r>
              <a:rPr dirty="0" sz="1600" spc="-25">
                <a:latin typeface="Courier New"/>
                <a:cs typeface="Courier New"/>
              </a:rPr>
              <a:t>Real-</a:t>
            </a:r>
            <a:r>
              <a:rPr dirty="0" sz="1600">
                <a:latin typeface="Courier New"/>
                <a:cs typeface="Courier New"/>
              </a:rPr>
              <a:t>world</a:t>
            </a:r>
            <a:r>
              <a:rPr dirty="0" sz="1600" spc="-175">
                <a:latin typeface="Courier New"/>
                <a:cs typeface="Courier New"/>
              </a:rPr>
              <a:t> </a:t>
            </a:r>
            <a:r>
              <a:rPr dirty="0" sz="1600" spc="-10">
                <a:latin typeface="Courier New"/>
                <a:cs typeface="Courier New"/>
              </a:rPr>
              <a:t>relevance:</a:t>
            </a:r>
            <a:endParaRPr sz="16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  <a:spcBef>
                <a:spcPts val="80"/>
              </a:spcBef>
            </a:pPr>
            <a:r>
              <a:rPr dirty="0" sz="1600">
                <a:latin typeface="Calibri"/>
                <a:cs typeface="Calibri"/>
              </a:rPr>
              <a:t>16%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annual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attrition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rate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across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industries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870" y="2249863"/>
            <a:ext cx="53339" cy="460813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1489" y="1738696"/>
            <a:ext cx="1958339" cy="7629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5770" y="1898912"/>
            <a:ext cx="1866900" cy="9918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4409" y="4370825"/>
            <a:ext cx="38100" cy="5340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34409" y="4584448"/>
            <a:ext cx="45720" cy="5340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4409" y="5126132"/>
            <a:ext cx="38100" cy="5340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4409" y="5881439"/>
            <a:ext cx="38100" cy="5340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34409" y="6636746"/>
            <a:ext cx="38100" cy="5340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9750" y="4370825"/>
            <a:ext cx="38100" cy="5340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49750" y="4584448"/>
            <a:ext cx="38100" cy="5340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52670" y="4370825"/>
            <a:ext cx="205739" cy="10681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52670" y="4584448"/>
            <a:ext cx="38100" cy="5340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56529" y="4576818"/>
            <a:ext cx="312420" cy="6103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16650" y="4370825"/>
            <a:ext cx="30479" cy="5340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16650" y="4584448"/>
            <a:ext cx="30479" cy="5340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44109" y="5126132"/>
            <a:ext cx="38100" cy="53405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91909" y="5126132"/>
            <a:ext cx="38100" cy="5340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95470" y="5881439"/>
            <a:ext cx="38100" cy="53405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39409" y="5881439"/>
            <a:ext cx="38100" cy="53405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170929" y="5881439"/>
            <a:ext cx="30479" cy="53405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18229" y="6308683"/>
            <a:ext cx="2948939" cy="7629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95470" y="6636746"/>
            <a:ext cx="38100" cy="53405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30850" y="6636746"/>
            <a:ext cx="38100" cy="53405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29069" y="6636746"/>
            <a:ext cx="38100" cy="53405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887209" y="5881439"/>
            <a:ext cx="45720" cy="53405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932930" y="4370825"/>
            <a:ext cx="45720" cy="53405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940550" y="4584448"/>
            <a:ext cx="38100" cy="5340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293351" y="1471668"/>
            <a:ext cx="114300" cy="106811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1258065" y="771055"/>
            <a:ext cx="41154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464646"/>
                </a:solidFill>
                <a:latin typeface="Arial MT"/>
                <a:cs typeface="Arial MT"/>
              </a:rPr>
              <a:t>localhost:8888/notebooks/EmployeePo20AttritionPo20Prediction.</a:t>
            </a:r>
            <a:r>
              <a:rPr dirty="0" sz="1000" spc="-10">
                <a:solidFill>
                  <a:srgbClr val="624646"/>
                </a:solidFill>
                <a:latin typeface="Arial MT"/>
                <a:cs typeface="Arial MT"/>
              </a:rPr>
              <a:t>ipyn</a:t>
            </a:r>
            <a:r>
              <a:rPr dirty="0" sz="1000" spc="-10">
                <a:solidFill>
                  <a:srgbClr val="629EDD"/>
                </a:solidFill>
                <a:latin typeface="Arial MT"/>
                <a:cs typeface="Arial MT"/>
              </a:rPr>
              <a:t>b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00">
              <a:latin typeface="Arial MT"/>
              <a:cs typeface="Arial MT"/>
            </a:endParaRPr>
          </a:p>
          <a:p>
            <a:pPr algn="ctr" marL="8255">
              <a:lnSpc>
                <a:spcPct val="100000"/>
              </a:lnSpc>
              <a:spcBef>
                <a:spcPts val="5"/>
              </a:spcBef>
              <a:tabLst>
                <a:tab pos="1401445" algn="l"/>
                <a:tab pos="2656840" algn="l"/>
              </a:tabLst>
            </a:pPr>
            <a:r>
              <a:rPr dirty="0" sz="1000" spc="-85">
                <a:solidFill>
                  <a:srgbClr val="87C4FF"/>
                </a:solidFill>
                <a:latin typeface="Arial MT"/>
                <a:cs typeface="Arial MT"/>
              </a:rPr>
              <a:t>General</a:t>
            </a:r>
            <a:r>
              <a:rPr dirty="0" sz="1000" spc="45">
                <a:solidFill>
                  <a:srgbClr val="87C4FF"/>
                </a:solidFill>
                <a:latin typeface="Arial MT"/>
                <a:cs typeface="Arial MT"/>
              </a:rPr>
              <a:t> </a:t>
            </a:r>
            <a:r>
              <a:rPr dirty="0" sz="1000" spc="-75">
                <a:solidFill>
                  <a:srgbClr val="464646"/>
                </a:solidFill>
                <a:latin typeface="Arial MT"/>
                <a:cs typeface="Arial MT"/>
              </a:rPr>
              <a:t>Study</a:t>
            </a:r>
            <a:r>
              <a:rPr dirty="0" sz="1000" spc="2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A56746"/>
                </a:solidFill>
                <a:latin typeface="Arial MT"/>
                <a:cs typeface="Arial MT"/>
              </a:rPr>
              <a:t>Links</a:t>
            </a:r>
            <a:r>
              <a:rPr dirty="0" sz="1000">
                <a:solidFill>
                  <a:srgbClr val="A56746"/>
                </a:solidFill>
                <a:latin typeface="Arial MT"/>
                <a:cs typeface="Arial MT"/>
              </a:rPr>
              <a:t>	</a:t>
            </a:r>
            <a:r>
              <a:rPr dirty="0" sz="1000" spc="-170">
                <a:solidFill>
                  <a:srgbClr val="878746"/>
                </a:solidFill>
                <a:latin typeface="Arial MT"/>
                <a:cs typeface="Arial MT"/>
              </a:rPr>
              <a:t>YT</a:t>
            </a:r>
            <a:r>
              <a:rPr dirty="0" sz="1000" spc="10">
                <a:solidFill>
                  <a:srgbClr val="878746"/>
                </a:solidFill>
                <a:latin typeface="Arial MT"/>
                <a:cs typeface="Arial MT"/>
              </a:rPr>
              <a:t> </a:t>
            </a:r>
            <a:r>
              <a:rPr dirty="0" sz="1000" spc="-60">
                <a:solidFill>
                  <a:srgbClr val="4667A5"/>
                </a:solidFill>
                <a:latin typeface="Arial MT"/>
                <a:cs typeface="Arial MT"/>
              </a:rPr>
              <a:t>vids</a:t>
            </a:r>
            <a:r>
              <a:rPr dirty="0" sz="1000" spc="25">
                <a:solidFill>
                  <a:srgbClr val="4667A5"/>
                </a:solidFill>
                <a:latin typeface="Arial MT"/>
                <a:cs typeface="Arial MT"/>
              </a:rPr>
              <a:t> </a:t>
            </a:r>
            <a:r>
              <a:rPr dirty="0" sz="1000" spc="-70">
                <a:solidFill>
                  <a:srgbClr val="464646"/>
                </a:solidFill>
                <a:latin typeface="Arial MT"/>
                <a:cs typeface="Arial MT"/>
              </a:rPr>
              <a:t>watch</a:t>
            </a:r>
            <a:r>
              <a:rPr dirty="0" sz="100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87C4FF"/>
                </a:solidFill>
                <a:latin typeface="Arial MT"/>
                <a:cs typeface="Arial MT"/>
              </a:rPr>
              <a:t>list</a:t>
            </a:r>
            <a:r>
              <a:rPr dirty="0" sz="1000">
                <a:solidFill>
                  <a:srgbClr val="87C4FF"/>
                </a:solidFill>
                <a:latin typeface="Arial MT"/>
                <a:cs typeface="Arial MT"/>
              </a:rPr>
              <a:t>	</a:t>
            </a:r>
            <a:r>
              <a:rPr dirty="0" sz="1000" spc="-60">
                <a:solidFill>
                  <a:srgbClr val="64A5E1"/>
                </a:solidFill>
                <a:latin typeface="Arial MT"/>
                <a:cs typeface="Arial MT"/>
              </a:rPr>
              <a:t>Railway/</a:t>
            </a:r>
            <a:r>
              <a:rPr dirty="0" sz="1000" spc="40">
                <a:solidFill>
                  <a:srgbClr val="64A5E1"/>
                </a:solidFill>
                <a:latin typeface="Arial MT"/>
                <a:cs typeface="Arial MT"/>
              </a:rPr>
              <a:t> </a:t>
            </a:r>
            <a:r>
              <a:rPr dirty="0" sz="1000" spc="-30">
                <a:solidFill>
                  <a:srgbClr val="64A5E1"/>
                </a:solidFill>
                <a:latin typeface="Arial MT"/>
                <a:cs typeface="Arial MT"/>
              </a:rPr>
              <a:t>pdf</a:t>
            </a:r>
            <a:r>
              <a:rPr dirty="0" sz="1000" spc="-45">
                <a:solidFill>
                  <a:srgbClr val="64A5E1"/>
                </a:solidFill>
                <a:latin typeface="Arial MT"/>
                <a:cs typeface="Arial MT"/>
              </a:rPr>
              <a:t> </a:t>
            </a:r>
            <a:r>
              <a:rPr dirty="0" sz="1000" spc="-55">
                <a:solidFill>
                  <a:srgbClr val="87C4FF"/>
                </a:solidFill>
                <a:latin typeface="Arial MT"/>
                <a:cs typeface="Arial MT"/>
              </a:rPr>
              <a:t>vids</a:t>
            </a:r>
            <a:r>
              <a:rPr dirty="0" sz="1000" spc="-15">
                <a:solidFill>
                  <a:srgbClr val="87C4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644646"/>
                </a:solidFill>
                <a:latin typeface="Arial MT"/>
                <a:cs typeface="Arial MT"/>
              </a:rPr>
              <a:t>ar...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72778" y="1106746"/>
            <a:ext cx="965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90">
                <a:solidFill>
                  <a:srgbClr val="4687C3"/>
                </a:solidFill>
                <a:latin typeface="Arial MT"/>
                <a:cs typeface="Arial MT"/>
              </a:rPr>
              <a:t>:s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982480" y="1450703"/>
            <a:ext cx="3490595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13995" algn="l"/>
              </a:tabLst>
            </a:pPr>
            <a:r>
              <a:rPr dirty="0" sz="850" spc="-50">
                <a:solidFill>
                  <a:srgbClr val="777777"/>
                </a:solidFill>
                <a:latin typeface="Arial MT"/>
                <a:cs typeface="Arial MT"/>
              </a:rPr>
              <a:t>”</a:t>
            </a:r>
            <a:r>
              <a:rPr dirty="0" sz="850">
                <a:solidFill>
                  <a:srgbClr val="777777"/>
                </a:solidFill>
                <a:latin typeface="Arial MT"/>
                <a:cs typeface="Arial MT"/>
              </a:rPr>
              <a:t>	</a:t>
            </a:r>
            <a:r>
              <a:rPr dirty="0" sz="850">
                <a:solidFill>
                  <a:srgbClr val="606060"/>
                </a:solidFill>
                <a:latin typeface="Arial MT"/>
                <a:cs typeface="Arial MT"/>
              </a:rPr>
              <a:t>j</a:t>
            </a:r>
            <a:r>
              <a:rPr dirty="0" sz="850" spc="8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850" spc="155">
                <a:solidFill>
                  <a:srgbClr val="606060"/>
                </a:solidFill>
                <a:latin typeface="Arial MT"/>
                <a:cs typeface="Arial MT"/>
              </a:rPr>
              <a:t>upyte</a:t>
            </a:r>
            <a:r>
              <a:rPr dirty="0" sz="850" spc="-135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dirty="0" sz="850" spc="105">
                <a:solidFill>
                  <a:srgbClr val="676767"/>
                </a:solidFill>
                <a:latin typeface="Arial MT"/>
                <a:cs typeface="Arial MT"/>
              </a:rPr>
              <a:t>r</a:t>
            </a:r>
            <a:r>
              <a:rPr dirty="0" sz="850" spc="160">
                <a:solidFill>
                  <a:srgbClr val="676767"/>
                </a:solidFill>
                <a:latin typeface="Arial MT"/>
                <a:cs typeface="Arial MT"/>
              </a:rPr>
              <a:t>  </a:t>
            </a:r>
            <a:r>
              <a:rPr dirty="0" sz="850">
                <a:solidFill>
                  <a:srgbClr val="B55D00"/>
                </a:solidFill>
                <a:latin typeface="Arial MT"/>
                <a:cs typeface="Arial MT"/>
              </a:rPr>
              <a:t>Employee</a:t>
            </a:r>
            <a:r>
              <a:rPr dirty="0" sz="850" spc="160">
                <a:solidFill>
                  <a:srgbClr val="B55D00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2B8C"/>
                </a:solidFill>
                <a:latin typeface="Arial MT"/>
                <a:cs typeface="Arial MT"/>
              </a:rPr>
              <a:t>Attrition</a:t>
            </a:r>
            <a:r>
              <a:rPr dirty="0" sz="850" spc="75">
                <a:solidFill>
                  <a:srgbClr val="002B8C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280059"/>
                </a:solidFill>
                <a:latin typeface="Arial MT"/>
                <a:cs typeface="Arial MT"/>
              </a:rPr>
              <a:t>Prediction</a:t>
            </a:r>
            <a:r>
              <a:rPr dirty="0" sz="850" spc="110">
                <a:solidFill>
                  <a:srgbClr val="280059"/>
                </a:solidFill>
                <a:latin typeface="Arial MT"/>
                <a:cs typeface="Arial MT"/>
              </a:rPr>
              <a:t> </a:t>
            </a:r>
            <a:r>
              <a:rPr dirty="0" sz="850" spc="-125">
                <a:latin typeface="Arial MT"/>
                <a:cs typeface="Arial MT"/>
              </a:rPr>
              <a:t>Last</a:t>
            </a:r>
            <a:r>
              <a:rPr dirty="0" sz="850" spc="-25">
                <a:latin typeface="Arial MT"/>
                <a:cs typeface="Arial MT"/>
              </a:rPr>
              <a:t> </a:t>
            </a:r>
            <a:r>
              <a:rPr dirty="0" sz="850" spc="-90">
                <a:solidFill>
                  <a:srgbClr val="2A2A2A"/>
                </a:solidFill>
                <a:latin typeface="Arial MT"/>
                <a:cs typeface="Arial MT"/>
              </a:rPr>
              <a:t>Checkpoint:</a:t>
            </a:r>
            <a:r>
              <a:rPr dirty="0" sz="850" spc="55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59B1FF"/>
                </a:solidFill>
                <a:latin typeface="Arial MT"/>
                <a:cs typeface="Arial MT"/>
              </a:rPr>
              <a:t>1</a:t>
            </a:r>
            <a:r>
              <a:rPr dirty="0" sz="850" spc="-140">
                <a:solidFill>
                  <a:srgbClr val="59B1FF"/>
                </a:solidFill>
                <a:latin typeface="Arial MT"/>
                <a:cs typeface="Arial MT"/>
              </a:rPr>
              <a:t> </a:t>
            </a:r>
            <a:r>
              <a:rPr dirty="0" sz="850" spc="-75">
                <a:solidFill>
                  <a:srgbClr val="59B1FF"/>
                </a:solidFill>
                <a:latin typeface="Arial MT"/>
                <a:cs typeface="Arial MT"/>
              </a:rPr>
              <a:t>minute</a:t>
            </a:r>
            <a:r>
              <a:rPr dirty="0" sz="850" spc="-15">
                <a:solidFill>
                  <a:srgbClr val="59B1FF"/>
                </a:solidFill>
                <a:latin typeface="Arial MT"/>
                <a:cs typeface="Arial MT"/>
              </a:rPr>
              <a:t> </a:t>
            </a:r>
            <a:r>
              <a:rPr dirty="0" sz="850" spc="-25">
                <a:solidFill>
                  <a:srgbClr val="005DB5"/>
                </a:solidFill>
                <a:latin typeface="Arial MT"/>
                <a:cs typeface="Arial MT"/>
              </a:rPr>
              <a:t>ago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515848" y="2374492"/>
            <a:ext cx="216344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14">
                <a:solidFill>
                  <a:srgbClr val="1F6EB6"/>
                </a:solidFill>
                <a:latin typeface="Courier New"/>
                <a:cs typeface="Courier New"/>
              </a:rPr>
              <a:t>dip=</a:t>
            </a:r>
            <a:r>
              <a:rPr dirty="0" sz="750" spc="-5">
                <a:solidFill>
                  <a:srgbClr val="1F6EB6"/>
                </a:solidFill>
                <a:latin typeface="Courier New"/>
                <a:cs typeface="Courier New"/>
              </a:rPr>
              <a:t> </a:t>
            </a:r>
            <a:r>
              <a:rPr dirty="0" sz="750" spc="-100">
                <a:solidFill>
                  <a:srgbClr val="2A2A2A"/>
                </a:solidFill>
                <a:latin typeface="Courier New"/>
                <a:cs typeface="Courier New"/>
              </a:rPr>
              <a:t>pd.read_csv(’attrition.csv’)</a:t>
            </a:r>
            <a:r>
              <a:rPr dirty="0" sz="750" spc="140">
                <a:solidFill>
                  <a:srgbClr val="2A2A2A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80AFDB"/>
                </a:solidFill>
                <a:latin typeface="Courier New"/>
                <a:cs typeface="Courier New"/>
              </a:rPr>
              <a:t>+</a:t>
            </a:r>
            <a:r>
              <a:rPr dirty="0" sz="750" spc="-114">
                <a:solidFill>
                  <a:srgbClr val="80AFDB"/>
                </a:solidFill>
                <a:latin typeface="Courier New"/>
                <a:cs typeface="Courier New"/>
              </a:rPr>
              <a:t> </a:t>
            </a:r>
            <a:r>
              <a:rPr dirty="0" sz="750" spc="-110">
                <a:solidFill>
                  <a:srgbClr val="939393"/>
                </a:solidFill>
                <a:latin typeface="Courier New"/>
                <a:cs typeface="Courier New"/>
              </a:rPr>
              <a:t>Four</a:t>
            </a:r>
            <a:r>
              <a:rPr dirty="0" sz="750" spc="-190">
                <a:solidFill>
                  <a:srgbClr val="939393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808080"/>
                </a:solidFill>
                <a:latin typeface="Courier New"/>
                <a:cs typeface="Courier New"/>
              </a:rPr>
              <a:t>j/1e'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658080" y="3236610"/>
            <a:ext cx="60198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20">
                <a:solidFill>
                  <a:srgbClr val="212121"/>
                </a:solidFill>
                <a:latin typeface="Courier New"/>
                <a:cs typeface="Courier New"/>
              </a:rPr>
              <a:t>Age</a:t>
            </a:r>
            <a:r>
              <a:rPr dirty="0" sz="750" spc="-8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00">
                <a:solidFill>
                  <a:srgbClr val="212121"/>
                </a:solidFill>
                <a:latin typeface="Courier New"/>
                <a:cs typeface="Courier New"/>
              </a:rPr>
              <a:t>Attrit*oo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470163" y="3236610"/>
            <a:ext cx="115316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>
                <a:solidFill>
                  <a:srgbClr val="212121"/>
                </a:solidFill>
                <a:latin typeface="Courier New"/>
                <a:cs typeface="Courier New"/>
              </a:rPr>
              <a:t>BusinessTravel</a:t>
            </a:r>
            <a:r>
              <a:rPr dirty="0" sz="750" spc="12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80">
                <a:solidFill>
                  <a:srgbClr val="212121"/>
                </a:solidFill>
                <a:latin typeface="Courier New"/>
                <a:cs typeface="Courier New"/>
              </a:rPr>
              <a:t>oa*lyRate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235307" y="3236610"/>
            <a:ext cx="476884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95">
                <a:solidFill>
                  <a:srgbClr val="212121"/>
                </a:solidFill>
                <a:latin typeface="Courier New"/>
                <a:cs typeface="Courier New"/>
              </a:rPr>
              <a:t>oepartment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515757" y="3343420"/>
            <a:ext cx="75311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4525" algn="l"/>
              </a:tabLst>
            </a:pPr>
            <a:r>
              <a:rPr dirty="0" sz="750">
                <a:solidFill>
                  <a:srgbClr val="21469A"/>
                </a:solidFill>
                <a:latin typeface="Courier New"/>
                <a:cs typeface="Courier New"/>
              </a:rPr>
              <a:t>e</a:t>
            </a:r>
            <a:r>
              <a:rPr dirty="0" sz="750" spc="455">
                <a:solidFill>
                  <a:srgbClr val="21469A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1469A"/>
                </a:solidFill>
                <a:latin typeface="Courier New"/>
                <a:cs typeface="Courier New"/>
              </a:rPr>
              <a:t>Ji</a:t>
            </a:r>
            <a:r>
              <a:rPr dirty="0" sz="750">
                <a:solidFill>
                  <a:srgbClr val="21469A"/>
                </a:solidFill>
                <a:latin typeface="Courier New"/>
                <a:cs typeface="Courier New"/>
              </a:rPr>
              <a:t>	</a:t>
            </a:r>
            <a:r>
              <a:rPr dirty="0" sz="750" spc="-55">
                <a:solidFill>
                  <a:srgbClr val="212121"/>
                </a:solidFill>
                <a:latin typeface="Courier New"/>
                <a:cs typeface="Courier New"/>
              </a:rPr>
              <a:t>es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513279" y="3343420"/>
            <a:ext cx="111823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5035" algn="l"/>
              </a:tabLst>
            </a:pPr>
            <a:r>
              <a:rPr dirty="0" sz="750" spc="-10">
                <a:solidFill>
                  <a:srgbClr val="212121"/>
                </a:solidFill>
                <a:latin typeface="Courier New"/>
                <a:cs typeface="Courier New"/>
              </a:rPr>
              <a:t>Trave1_Rarely</a:t>
            </a:r>
            <a:r>
              <a:rPr dirty="0" sz="750">
                <a:solidFill>
                  <a:srgbClr val="212121"/>
                </a:solidFill>
                <a:latin typeface="Courier New"/>
                <a:cs typeface="Courier New"/>
              </a:rPr>
              <a:t>	</a:t>
            </a:r>
            <a:r>
              <a:rPr dirty="0" sz="750" spc="-70">
                <a:solidFill>
                  <a:srgbClr val="6EBCFF"/>
                </a:solidFill>
                <a:latin typeface="Courier New"/>
                <a:cs typeface="Courier New"/>
              </a:rPr>
              <a:t>**e2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6461022" y="3343420"/>
            <a:ext cx="25717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75">
                <a:solidFill>
                  <a:srgbClr val="212121"/>
                </a:solidFill>
                <a:latin typeface="Courier New"/>
                <a:cs typeface="Courier New"/>
              </a:rPr>
              <a:t>sales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4151565" y="3450231"/>
            <a:ext cx="98171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BF7221"/>
                </a:solidFill>
                <a:latin typeface="Courier New"/>
                <a:cs typeface="Courier New"/>
              </a:rPr>
              <a:t>wD</a:t>
            </a:r>
            <a:r>
              <a:rPr dirty="0" sz="750" spc="40">
                <a:solidFill>
                  <a:srgbClr val="BF7221"/>
                </a:solidFill>
                <a:latin typeface="Courier New"/>
                <a:cs typeface="Courier New"/>
              </a:rPr>
              <a:t> </a:t>
            </a:r>
            <a:r>
              <a:rPr dirty="0" sz="750" spc="-95">
                <a:solidFill>
                  <a:srgbClr val="212121"/>
                </a:solidFill>
                <a:latin typeface="Courier New"/>
                <a:cs typeface="Courier New"/>
              </a:rPr>
              <a:t>Trave1_Freguent1y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461407" y="3450231"/>
            <a:ext cx="125031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4499E2"/>
                </a:solidFill>
                <a:latin typeface="Courier New"/>
                <a:cs typeface="Courier New"/>
              </a:rPr>
              <a:t>z79</a:t>
            </a:r>
            <a:r>
              <a:rPr dirty="0" sz="750" spc="90">
                <a:solidFill>
                  <a:srgbClr val="4499E2"/>
                </a:solidFill>
                <a:latin typeface="Courier New"/>
                <a:cs typeface="Courier New"/>
              </a:rPr>
              <a:t> </a:t>
            </a:r>
            <a:r>
              <a:rPr dirty="0" sz="750" spc="-114">
                <a:solidFill>
                  <a:srgbClr val="212121"/>
                </a:solidFill>
                <a:latin typeface="Courier New"/>
                <a:cs typeface="Courier New"/>
              </a:rPr>
              <a:t>Research</a:t>
            </a:r>
            <a:r>
              <a:rPr dirty="0" sz="750" spc="-13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10">
                <a:solidFill>
                  <a:srgbClr val="2172BF"/>
                </a:solidFill>
                <a:latin typeface="Courier New"/>
                <a:cs typeface="Courier New"/>
              </a:rPr>
              <a:t>8</a:t>
            </a:r>
            <a:r>
              <a:rPr dirty="0" sz="750" spc="-50">
                <a:solidFill>
                  <a:srgbClr val="2172BF"/>
                </a:solidFill>
                <a:latin typeface="Courier New"/>
                <a:cs typeface="Courier New"/>
              </a:rPr>
              <a:t> </a:t>
            </a:r>
            <a:r>
              <a:rPr dirty="0" sz="750" spc="-90">
                <a:solidFill>
                  <a:srgbClr val="212121"/>
                </a:solidFill>
                <a:latin typeface="Courier New"/>
                <a:cs typeface="Courier New"/>
              </a:rPr>
              <a:t>oevelopment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3510687" y="3450231"/>
            <a:ext cx="309880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9"/>
              </a:lnSpc>
              <a:spcBef>
                <a:spcPts val="100"/>
              </a:spcBef>
            </a:pPr>
            <a:r>
              <a:rPr dirty="0" sz="750">
                <a:solidFill>
                  <a:srgbClr val="6EBCFF"/>
                </a:solidFill>
                <a:latin typeface="Courier New"/>
                <a:cs typeface="Courier New"/>
              </a:rPr>
              <a:t>*</a:t>
            </a:r>
            <a:r>
              <a:rPr dirty="0" sz="750" spc="475">
                <a:solidFill>
                  <a:srgbClr val="6EBCFF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1469A"/>
                </a:solidFill>
                <a:latin typeface="Courier New"/>
                <a:cs typeface="Courier New"/>
              </a:rPr>
              <a:t>49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ts val="840"/>
              </a:lnSpc>
            </a:pPr>
            <a:r>
              <a:rPr dirty="0" sz="750">
                <a:solidFill>
                  <a:srgbClr val="4499E2"/>
                </a:solidFill>
                <a:latin typeface="Courier New"/>
                <a:cs typeface="Courier New"/>
              </a:rPr>
              <a:t>z</a:t>
            </a:r>
            <a:r>
              <a:rPr dirty="0" sz="750" spc="45">
                <a:solidFill>
                  <a:srgbClr val="4499E2"/>
                </a:solidFill>
                <a:latin typeface="Courier New"/>
                <a:cs typeface="Courier New"/>
              </a:rPr>
              <a:t>  </a:t>
            </a:r>
            <a:r>
              <a:rPr dirty="0" sz="750" spc="-35">
                <a:solidFill>
                  <a:srgbClr val="4499E2"/>
                </a:solidFill>
                <a:latin typeface="Courier New"/>
                <a:cs typeface="Courier New"/>
              </a:rPr>
              <a:t>37</a:t>
            </a:r>
            <a:endParaRPr sz="750">
              <a:latin typeface="Courier New"/>
              <a:cs typeface="Courier New"/>
            </a:endParaRPr>
          </a:p>
          <a:p>
            <a:pPr marL="14604">
              <a:lnSpc>
                <a:spcPts val="840"/>
              </a:lnSpc>
              <a:tabLst>
                <a:tab pos="196850" algn="l"/>
              </a:tabLst>
            </a:pPr>
            <a:r>
              <a:rPr dirty="0" sz="750" spc="-50">
                <a:solidFill>
                  <a:srgbClr val="4499E2"/>
                </a:solidFill>
                <a:latin typeface="Courier New"/>
                <a:cs typeface="Courier New"/>
              </a:rPr>
              <a:t>3</a:t>
            </a:r>
            <a:r>
              <a:rPr dirty="0" sz="750">
                <a:solidFill>
                  <a:srgbClr val="4499E2"/>
                </a:solidFill>
                <a:latin typeface="Courier New"/>
                <a:cs typeface="Courier New"/>
              </a:rPr>
              <a:t>	</a:t>
            </a:r>
            <a:r>
              <a:rPr dirty="0" sz="750" spc="-30">
                <a:solidFill>
                  <a:srgbClr val="4499E2"/>
                </a:solidFill>
                <a:latin typeface="Courier New"/>
                <a:cs typeface="Courier New"/>
              </a:rPr>
              <a:t>33</a:t>
            </a:r>
            <a:endParaRPr sz="750">
              <a:latin typeface="Courier New"/>
              <a:cs typeface="Courier New"/>
            </a:endParaRPr>
          </a:p>
          <a:p>
            <a:pPr marL="13335">
              <a:lnSpc>
                <a:spcPts val="869"/>
              </a:lnSpc>
              <a:tabLst>
                <a:tab pos="198120" algn="l"/>
              </a:tabLst>
            </a:pPr>
            <a:r>
              <a:rPr dirty="0" sz="750" spc="-50">
                <a:solidFill>
                  <a:srgbClr val="21216E"/>
                </a:solidFill>
                <a:latin typeface="Courier New"/>
                <a:cs typeface="Courier New"/>
              </a:rPr>
              <a:t>4</a:t>
            </a:r>
            <a:r>
              <a:rPr dirty="0" sz="750">
                <a:solidFill>
                  <a:srgbClr val="21216E"/>
                </a:solidFill>
                <a:latin typeface="Courier New"/>
                <a:cs typeface="Courier New"/>
              </a:rPr>
              <a:t>	</a:t>
            </a:r>
            <a:r>
              <a:rPr dirty="0" sz="750" spc="-45">
                <a:solidFill>
                  <a:srgbClr val="6EBCFF"/>
                </a:solidFill>
                <a:latin typeface="Courier New"/>
                <a:cs typeface="Courier New"/>
              </a:rPr>
              <a:t>27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148217" y="3557042"/>
            <a:ext cx="984885" cy="35369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just" marL="15875" marR="5080" indent="-3810">
              <a:lnSpc>
                <a:spcPts val="840"/>
              </a:lnSpc>
              <a:spcBef>
                <a:spcPts val="175"/>
              </a:spcBef>
            </a:pPr>
            <a:r>
              <a:rPr dirty="0" sz="750">
                <a:solidFill>
                  <a:srgbClr val="212121"/>
                </a:solidFill>
                <a:latin typeface="Courier New"/>
                <a:cs typeface="Courier New"/>
              </a:rPr>
              <a:t>es</a:t>
            </a:r>
            <a:r>
              <a:rPr dirty="0" sz="750" spc="200">
                <a:solidFill>
                  <a:srgbClr val="212121"/>
                </a:solidFill>
                <a:latin typeface="Courier New"/>
                <a:cs typeface="Courier New"/>
              </a:rPr>
              <a:t>   </a:t>
            </a:r>
            <a:r>
              <a:rPr dirty="0" sz="750" spc="-100">
                <a:solidFill>
                  <a:srgbClr val="212121"/>
                </a:solidFill>
                <a:latin typeface="Courier New"/>
                <a:cs typeface="Courier New"/>
              </a:rPr>
              <a:t>Trave1_Rarely </a:t>
            </a:r>
            <a:r>
              <a:rPr dirty="0" sz="750">
                <a:solidFill>
                  <a:srgbClr val="BF7221"/>
                </a:solidFill>
                <a:latin typeface="Courier New"/>
                <a:cs typeface="Courier New"/>
              </a:rPr>
              <a:t>wD</a:t>
            </a:r>
            <a:r>
              <a:rPr dirty="0" sz="750" spc="40">
                <a:solidFill>
                  <a:srgbClr val="BF7221"/>
                </a:solidFill>
                <a:latin typeface="Courier New"/>
                <a:cs typeface="Courier New"/>
              </a:rPr>
              <a:t> </a:t>
            </a:r>
            <a:r>
              <a:rPr dirty="0" sz="750" spc="-100">
                <a:solidFill>
                  <a:srgbClr val="212121"/>
                </a:solidFill>
                <a:latin typeface="Courier New"/>
                <a:cs typeface="Courier New"/>
              </a:rPr>
              <a:t>Trave1_Freguent1y </a:t>
            </a:r>
            <a:r>
              <a:rPr dirty="0" sz="750">
                <a:solidFill>
                  <a:srgbClr val="BF7221"/>
                </a:solidFill>
                <a:latin typeface="Courier New"/>
                <a:cs typeface="Courier New"/>
              </a:rPr>
              <a:t>wD</a:t>
            </a:r>
            <a:r>
              <a:rPr dirty="0" sz="750" spc="190">
                <a:solidFill>
                  <a:srgbClr val="BF7221"/>
                </a:solidFill>
                <a:latin typeface="Courier New"/>
                <a:cs typeface="Courier New"/>
              </a:rPr>
              <a:t>   </a:t>
            </a:r>
            <a:r>
              <a:rPr dirty="0" sz="750" spc="-100">
                <a:solidFill>
                  <a:srgbClr val="212121"/>
                </a:solidFill>
                <a:latin typeface="Courier New"/>
                <a:cs typeface="Courier New"/>
              </a:rPr>
              <a:t>Trave1_Rarely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416106" y="3557042"/>
            <a:ext cx="129603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69"/>
              </a:lnSpc>
              <a:spcBef>
                <a:spcPts val="100"/>
              </a:spcBef>
            </a:pPr>
            <a:r>
              <a:rPr dirty="0" sz="750" spc="-30">
                <a:solidFill>
                  <a:srgbClr val="6EBCFF"/>
                </a:solidFill>
                <a:latin typeface="Courier New"/>
                <a:cs typeface="Courier New"/>
              </a:rPr>
              <a:t>1373</a:t>
            </a:r>
            <a:r>
              <a:rPr dirty="0" sz="750" spc="110">
                <a:solidFill>
                  <a:srgbClr val="6EBCFF"/>
                </a:solidFill>
                <a:latin typeface="Courier New"/>
                <a:cs typeface="Courier New"/>
              </a:rPr>
              <a:t> </a:t>
            </a:r>
            <a:r>
              <a:rPr dirty="0" sz="750" spc="-114">
                <a:solidFill>
                  <a:srgbClr val="212121"/>
                </a:solidFill>
                <a:latin typeface="Courier New"/>
                <a:cs typeface="Courier New"/>
              </a:rPr>
              <a:t>Research</a:t>
            </a:r>
            <a:r>
              <a:rPr dirty="0" sz="750" spc="-13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10">
                <a:solidFill>
                  <a:srgbClr val="2172BF"/>
                </a:solidFill>
                <a:latin typeface="Courier New"/>
                <a:cs typeface="Courier New"/>
              </a:rPr>
              <a:t>8</a:t>
            </a:r>
            <a:r>
              <a:rPr dirty="0" sz="750" spc="-50">
                <a:solidFill>
                  <a:srgbClr val="2172BF"/>
                </a:solidFill>
                <a:latin typeface="Courier New"/>
                <a:cs typeface="Courier New"/>
              </a:rPr>
              <a:t> </a:t>
            </a:r>
            <a:r>
              <a:rPr dirty="0" sz="750" spc="-85">
                <a:solidFill>
                  <a:srgbClr val="212121"/>
                </a:solidFill>
                <a:latin typeface="Courier New"/>
                <a:cs typeface="Courier New"/>
              </a:rPr>
              <a:t>oevelopment</a:t>
            </a:r>
            <a:endParaRPr sz="750">
              <a:latin typeface="Courier New"/>
              <a:cs typeface="Courier New"/>
            </a:endParaRPr>
          </a:p>
          <a:p>
            <a:pPr marL="59055" marR="5080" indent="-46990">
              <a:lnSpc>
                <a:spcPts val="840"/>
              </a:lnSpc>
              <a:spcBef>
                <a:spcPts val="50"/>
              </a:spcBef>
            </a:pPr>
            <a:r>
              <a:rPr dirty="0" sz="750" spc="-30">
                <a:solidFill>
                  <a:srgbClr val="6EBCFF"/>
                </a:solidFill>
                <a:latin typeface="Courier New"/>
                <a:cs typeface="Courier New"/>
              </a:rPr>
              <a:t>1392</a:t>
            </a:r>
            <a:r>
              <a:rPr dirty="0" sz="750" spc="105">
                <a:solidFill>
                  <a:srgbClr val="6EBCFF"/>
                </a:solidFill>
                <a:latin typeface="Courier New"/>
                <a:cs typeface="Courier New"/>
              </a:rPr>
              <a:t> </a:t>
            </a:r>
            <a:r>
              <a:rPr dirty="0" sz="750" spc="-114">
                <a:solidFill>
                  <a:srgbClr val="212121"/>
                </a:solidFill>
                <a:latin typeface="Courier New"/>
                <a:cs typeface="Courier New"/>
              </a:rPr>
              <a:t>Research</a:t>
            </a:r>
            <a:r>
              <a:rPr dirty="0" sz="750" spc="-13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10">
                <a:solidFill>
                  <a:srgbClr val="2172BF"/>
                </a:solidFill>
                <a:latin typeface="Courier New"/>
                <a:cs typeface="Courier New"/>
              </a:rPr>
              <a:t>8</a:t>
            </a:r>
            <a:r>
              <a:rPr dirty="0" sz="750" spc="-50">
                <a:solidFill>
                  <a:srgbClr val="2172BF"/>
                </a:solidFill>
                <a:latin typeface="Courier New"/>
                <a:cs typeface="Courier New"/>
              </a:rPr>
              <a:t> </a:t>
            </a:r>
            <a:r>
              <a:rPr dirty="0" sz="750" spc="-95">
                <a:solidFill>
                  <a:srgbClr val="212121"/>
                </a:solidFill>
                <a:latin typeface="Courier New"/>
                <a:cs typeface="Courier New"/>
              </a:rPr>
              <a:t>oevelopment </a:t>
            </a:r>
            <a:r>
              <a:rPr dirty="0" sz="750" spc="-10">
                <a:solidFill>
                  <a:srgbClr val="E29944"/>
                </a:solidFill>
                <a:latin typeface="Courier New"/>
                <a:cs typeface="Courier New"/>
              </a:rPr>
              <a:t>s9l</a:t>
            </a:r>
            <a:r>
              <a:rPr dirty="0" sz="750" spc="110">
                <a:solidFill>
                  <a:srgbClr val="E29944"/>
                </a:solidFill>
                <a:latin typeface="Courier New"/>
                <a:cs typeface="Courier New"/>
              </a:rPr>
              <a:t> </a:t>
            </a:r>
            <a:r>
              <a:rPr dirty="0" sz="750" spc="-114">
                <a:solidFill>
                  <a:srgbClr val="212121"/>
                </a:solidFill>
                <a:latin typeface="Courier New"/>
                <a:cs typeface="Courier New"/>
              </a:rPr>
              <a:t>Research</a:t>
            </a:r>
            <a:r>
              <a:rPr dirty="0" sz="750" spc="-13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10">
                <a:solidFill>
                  <a:srgbClr val="2172BF"/>
                </a:solidFill>
                <a:latin typeface="Courier New"/>
                <a:cs typeface="Courier New"/>
              </a:rPr>
              <a:t>8</a:t>
            </a:r>
            <a:r>
              <a:rPr dirty="0" sz="750" spc="-50">
                <a:solidFill>
                  <a:srgbClr val="2172BF"/>
                </a:solidFill>
                <a:latin typeface="Courier New"/>
                <a:cs typeface="Courier New"/>
              </a:rPr>
              <a:t> </a:t>
            </a:r>
            <a:r>
              <a:rPr dirty="0" sz="750" spc="-95">
                <a:solidFill>
                  <a:srgbClr val="212121"/>
                </a:solidFill>
                <a:latin typeface="Courier New"/>
                <a:cs typeface="Courier New"/>
              </a:rPr>
              <a:t>oevelopment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3654591" y="3991917"/>
            <a:ext cx="3339465" cy="460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5">
                <a:solidFill>
                  <a:srgbClr val="212121"/>
                </a:solidFill>
                <a:latin typeface="Consolas"/>
                <a:cs typeface="Consolas"/>
              </a:rPr>
              <a:t>oistanceFrosHoae</a:t>
            </a:r>
            <a:r>
              <a:rPr dirty="0" sz="750" spc="65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750" spc="-65">
                <a:solidFill>
                  <a:srgbClr val="212121"/>
                </a:solidFill>
                <a:latin typeface="Consolas"/>
                <a:cs typeface="Consolas"/>
              </a:rPr>
              <a:t>Education</a:t>
            </a:r>
            <a:r>
              <a:rPr dirty="0" sz="750" spc="-4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750" spc="-55">
                <a:solidFill>
                  <a:srgbClr val="212121"/>
                </a:solidFill>
                <a:latin typeface="Consolas"/>
                <a:cs typeface="Consolas"/>
              </a:rPr>
              <a:t>Educat*onF1eld</a:t>
            </a:r>
            <a:r>
              <a:rPr dirty="0" sz="750" spc="155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750" spc="-55">
                <a:solidFill>
                  <a:srgbClr val="6EBCFF"/>
                </a:solidFill>
                <a:latin typeface="Consolas"/>
                <a:cs typeface="Consolas"/>
              </a:rPr>
              <a:t>Employeecount</a:t>
            </a:r>
            <a:r>
              <a:rPr dirty="0" sz="750" spc="240">
                <a:solidFill>
                  <a:srgbClr val="6EBCFF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212121"/>
                </a:solidFill>
                <a:latin typeface="Consolas"/>
                <a:cs typeface="Consolas"/>
              </a:rPr>
              <a:t>EmployeeNumber</a:t>
            </a:r>
            <a:endParaRPr sz="7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750">
              <a:latin typeface="Consolas"/>
              <a:cs typeface="Consolas"/>
            </a:endParaRPr>
          </a:p>
          <a:p>
            <a:pPr algn="ctr" marL="264160">
              <a:lnSpc>
                <a:spcPct val="100000"/>
              </a:lnSpc>
            </a:pPr>
            <a:r>
              <a:rPr dirty="0" sz="750" spc="-10">
                <a:solidFill>
                  <a:srgbClr val="212121"/>
                </a:solidFill>
                <a:latin typeface="Consolas"/>
                <a:cs typeface="Consolas"/>
              </a:rPr>
              <a:t>Otñer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883376" y="4747223"/>
            <a:ext cx="2565400" cy="459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10">
                <a:solidFill>
                  <a:srgbClr val="212121"/>
                </a:solidFill>
                <a:latin typeface="Courier New"/>
                <a:cs typeface="Courier New"/>
              </a:rPr>
              <a:t>Re1at*oost1psatisfaction</a:t>
            </a:r>
            <a:r>
              <a:rPr dirty="0" sz="750" spc="-9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95">
                <a:solidFill>
                  <a:srgbClr val="6EBCFF"/>
                </a:solidFill>
                <a:latin typeface="Courier New"/>
                <a:cs typeface="Courier New"/>
              </a:rPr>
              <a:t>staodardHours</a:t>
            </a:r>
            <a:r>
              <a:rPr dirty="0" sz="750" spc="300">
                <a:solidFill>
                  <a:srgbClr val="6EBCFF"/>
                </a:solidFill>
                <a:latin typeface="Courier New"/>
                <a:cs typeface="Courier New"/>
              </a:rPr>
              <a:t> </a:t>
            </a:r>
            <a:r>
              <a:rPr dirty="0" sz="750" spc="-70">
                <a:solidFill>
                  <a:srgbClr val="212121"/>
                </a:solidFill>
                <a:latin typeface="Courier New"/>
                <a:cs typeface="Courier New"/>
              </a:rPr>
              <a:t>stockopt*oocevel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50">
              <a:latin typeface="Courier New"/>
              <a:cs typeface="Courier New"/>
            </a:endParaRPr>
          </a:p>
          <a:p>
            <a:pPr marL="1637030">
              <a:lnSpc>
                <a:spcPct val="100000"/>
              </a:lnSpc>
              <a:spcBef>
                <a:spcPts val="5"/>
              </a:spcBef>
            </a:pPr>
            <a:r>
              <a:rPr dirty="0" sz="650" spc="-25">
                <a:solidFill>
                  <a:srgbClr val="6EBCFF"/>
                </a:solidFill>
                <a:latin typeface="Courier New"/>
                <a:cs typeface="Courier New"/>
              </a:rPr>
              <a:t>8B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3652218" y="5502530"/>
            <a:ext cx="328041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7955" algn="l"/>
              </a:tabLst>
            </a:pPr>
            <a:r>
              <a:rPr dirty="0" sz="750" spc="-70">
                <a:solidFill>
                  <a:srgbClr val="212121"/>
                </a:solidFill>
                <a:latin typeface="Courier New"/>
                <a:cs typeface="Courier New"/>
              </a:rPr>
              <a:t>Tota1Work*o/ears</a:t>
            </a:r>
            <a:r>
              <a:rPr dirty="0" sz="750" spc="21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05">
                <a:solidFill>
                  <a:srgbClr val="212121"/>
                </a:solidFill>
                <a:latin typeface="Courier New"/>
                <a:cs typeface="Courier New"/>
              </a:rPr>
              <a:t>TrainingTimescast</a:t>
            </a:r>
            <a:r>
              <a:rPr dirty="0" sz="750" spc="-14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10">
                <a:solidFill>
                  <a:srgbClr val="212121"/>
                </a:solidFill>
                <a:latin typeface="Courier New"/>
                <a:cs typeface="Courier New"/>
              </a:rPr>
              <a:t>ear</a:t>
            </a:r>
            <a:r>
              <a:rPr dirty="0" sz="750" spc="-7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Courier New"/>
                <a:cs typeface="Courier New"/>
              </a:rPr>
              <a:t>norkLifeBalaoce</a:t>
            </a:r>
            <a:r>
              <a:rPr dirty="0" sz="750">
                <a:solidFill>
                  <a:srgbClr val="212121"/>
                </a:solidFill>
                <a:latin typeface="Courier New"/>
                <a:cs typeface="Courier New"/>
              </a:rPr>
              <a:t>	</a:t>
            </a:r>
            <a:r>
              <a:rPr dirty="0" sz="750" spc="-95">
                <a:solidFill>
                  <a:srgbClr val="212121"/>
                </a:solidFill>
                <a:latin typeface="Courier New"/>
                <a:cs typeface="Courier New"/>
              </a:rPr>
              <a:t>earsAtcompany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179171" y="1672272"/>
            <a:ext cx="28448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0">
                <a:solidFill>
                  <a:srgbClr val="4499E2"/>
                </a:solidFill>
                <a:latin typeface="Arial MT"/>
                <a:cs typeface="Arial MT"/>
              </a:rPr>
              <a:t>Trustee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8885857" y="1886212"/>
            <a:ext cx="68516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10">
                <a:solidFill>
                  <a:srgbClr val="212121"/>
                </a:solidFill>
                <a:latin typeface="Courier New"/>
                <a:cs typeface="Courier New"/>
              </a:rPr>
              <a:t>JuFHe'L°°</a:t>
            </a:r>
            <a:r>
              <a:rPr dirty="0" sz="750" spc="-27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>
                <a:solidFill>
                  <a:srgbClr val="626262"/>
                </a:solidFill>
                <a:latin typeface="Courier New"/>
                <a:cs typeface="Courier New"/>
              </a:rPr>
              <a:t>Lj</a:t>
            </a:r>
            <a:r>
              <a:rPr dirty="0" sz="750" spc="90">
                <a:solidFill>
                  <a:srgbClr val="626262"/>
                </a:solidFill>
                <a:latin typeface="Courier New"/>
                <a:cs typeface="Courier New"/>
              </a:rPr>
              <a:t> </a:t>
            </a:r>
            <a:r>
              <a:rPr dirty="0" sz="750" spc="-50">
                <a:solidFill>
                  <a:srgbClr val="606060"/>
                </a:solidFill>
                <a:latin typeface="Courier New"/>
                <a:cs typeface="Courier New"/>
              </a:rPr>
              <a:t>8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9669973" y="1886212"/>
            <a:ext cx="76009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55">
                <a:solidFill>
                  <a:srgbClr val="212121"/>
                </a:solidFill>
                <a:latin typeface="Courier New"/>
                <a:cs typeface="Courier New"/>
              </a:rPr>
              <a:t>#h°n3</a:t>
            </a:r>
            <a:r>
              <a:rPr dirty="0" sz="750" spc="-31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105">
                <a:solidFill>
                  <a:srgbClr val="212121"/>
                </a:solidFill>
                <a:latin typeface="Courier New"/>
                <a:cs typeface="Courier New"/>
              </a:rPr>
              <a:t>JPyke'°e)</a:t>
            </a:r>
            <a:endParaRPr sz="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6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Courier New"/>
                <a:cs typeface="Courier New"/>
              </a:rPr>
              <a:t>Problem</a:t>
            </a:r>
            <a:r>
              <a:rPr dirty="0" spc="-225" b="0">
                <a:latin typeface="Courier New"/>
                <a:cs typeface="Courier New"/>
              </a:rPr>
              <a:t> </a:t>
            </a:r>
            <a:r>
              <a:rPr dirty="0" spc="-10" b="0">
                <a:latin typeface="Courier New"/>
                <a:cs typeface="Courier New"/>
              </a:rPr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7892" y="1940940"/>
            <a:ext cx="6318885" cy="2796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130"/>
              </a:lnSpc>
              <a:spcBef>
                <a:spcPts val="100"/>
              </a:spcBef>
              <a:buSzPct val="61111"/>
              <a:buChar char="•"/>
              <a:tabLst>
                <a:tab pos="240665" algn="l"/>
              </a:tabLst>
            </a:pPr>
            <a:r>
              <a:rPr dirty="0" sz="1800">
                <a:latin typeface="Arial MT"/>
                <a:cs typeface="Arial MT"/>
              </a:rPr>
              <a:t>Clearly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define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problem:</a:t>
            </a:r>
            <a:endParaRPr sz="1800">
              <a:latin typeface="Arial MT"/>
              <a:cs typeface="Arial MT"/>
            </a:endParaRPr>
          </a:p>
          <a:p>
            <a:pPr marL="241300">
              <a:lnSpc>
                <a:spcPts val="2130"/>
              </a:lnSpc>
            </a:pPr>
            <a:r>
              <a:rPr dirty="0" sz="1800">
                <a:latin typeface="Calibri"/>
                <a:cs typeface="Calibri"/>
              </a:rPr>
              <a:t>"HR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employees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quit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before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resign"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00">
              <a:latin typeface="Calibri"/>
              <a:cs typeface="Calibri"/>
            </a:endParaRPr>
          </a:p>
          <a:p>
            <a:pPr marL="92075" indent="-88900">
              <a:lnSpc>
                <a:spcPts val="2130"/>
              </a:lnSpc>
              <a:spcBef>
                <a:spcPts val="5"/>
              </a:spcBef>
              <a:buSzPct val="94444"/>
              <a:buChar char="•"/>
              <a:tabLst>
                <a:tab pos="92075" algn="l"/>
              </a:tabLst>
            </a:pPr>
            <a:r>
              <a:rPr dirty="0" sz="1800">
                <a:latin typeface="Arial MT"/>
                <a:cs typeface="Arial MT"/>
              </a:rPr>
              <a:t>Existing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issues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/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limitations:</a:t>
            </a:r>
            <a:endParaRPr sz="1800">
              <a:latin typeface="Arial MT"/>
              <a:cs typeface="Arial MT"/>
            </a:endParaRPr>
          </a:p>
          <a:p>
            <a:pPr lvl="1" marL="257175" indent="-165100">
              <a:lnSpc>
                <a:spcPts val="2130"/>
              </a:lnSpc>
              <a:buChar char="•"/>
              <a:tabLst>
                <a:tab pos="257175" algn="l"/>
              </a:tabLst>
            </a:pPr>
            <a:r>
              <a:rPr dirty="0" sz="1800">
                <a:latin typeface="Calibri"/>
                <a:cs typeface="Calibri"/>
              </a:rPr>
              <a:t>Reactive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hiring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(too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late)</a:t>
            </a:r>
            <a:endParaRPr sz="1800">
              <a:latin typeface="Calibri"/>
              <a:cs typeface="Calibri"/>
            </a:endParaRPr>
          </a:p>
          <a:p>
            <a:pPr lvl="1" marL="257175" indent="-165100">
              <a:lnSpc>
                <a:spcPct val="100000"/>
              </a:lnSpc>
              <a:spcBef>
                <a:spcPts val="40"/>
              </a:spcBef>
              <a:buChar char="•"/>
              <a:tabLst>
                <a:tab pos="257175" algn="l"/>
              </a:tabLst>
            </a:pPr>
            <a:r>
              <a:rPr dirty="0" sz="1800">
                <a:latin typeface="Calibri"/>
                <a:cs typeface="Calibri"/>
              </a:rPr>
              <a:t>Millions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lost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recruitment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costs</a:t>
            </a:r>
            <a:endParaRPr sz="1800">
              <a:latin typeface="Calibri"/>
              <a:cs typeface="Calibri"/>
            </a:endParaRPr>
          </a:p>
          <a:p>
            <a:pPr lvl="1" marL="257175" indent="-165100">
              <a:lnSpc>
                <a:spcPct val="100000"/>
              </a:lnSpc>
              <a:spcBef>
                <a:spcPts val="40"/>
              </a:spcBef>
              <a:buChar char="•"/>
              <a:tabLst>
                <a:tab pos="257175" algn="l"/>
              </a:tabLst>
            </a:pP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data-driven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retention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strategy</a:t>
            </a:r>
            <a:endParaRPr sz="1800">
              <a:latin typeface="Calibri"/>
              <a:cs typeface="Calibri"/>
            </a:endParaRPr>
          </a:p>
          <a:p>
            <a:pPr marL="90805" indent="-78105">
              <a:lnSpc>
                <a:spcPts val="2120"/>
              </a:lnSpc>
              <a:spcBef>
                <a:spcPts val="2070"/>
              </a:spcBef>
              <a:buSzPct val="61111"/>
              <a:buChar char="•"/>
              <a:tabLst>
                <a:tab pos="90805" algn="l"/>
              </a:tabLst>
            </a:pPr>
            <a:r>
              <a:rPr dirty="0" sz="1800">
                <a:latin typeface="Arial MT"/>
                <a:cs typeface="Arial MT"/>
              </a:rPr>
              <a:t>Need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proposed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solution: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ts val="2115"/>
              </a:lnSpc>
            </a:pPr>
            <a:r>
              <a:rPr dirty="0" sz="1800">
                <a:latin typeface="Calibri"/>
                <a:cs typeface="Calibri"/>
              </a:rPr>
              <a:t>Predictive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84%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accuracy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6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latin typeface="Courier New"/>
                <a:cs typeface="Courier New"/>
              </a:rPr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73467" y="1700910"/>
            <a:ext cx="4918075" cy="24841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91440" indent="-88900">
              <a:lnSpc>
                <a:spcPct val="100000"/>
              </a:lnSpc>
              <a:spcBef>
                <a:spcPts val="26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List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3–5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clear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measurable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objectives:</a:t>
            </a:r>
            <a:endParaRPr sz="1800">
              <a:latin typeface="Arial MT"/>
              <a:cs typeface="Arial MT"/>
            </a:endParaRPr>
          </a:p>
          <a:p>
            <a:pPr lvl="1" marL="313055" indent="-220979">
              <a:lnSpc>
                <a:spcPct val="100000"/>
              </a:lnSpc>
              <a:spcBef>
                <a:spcPts val="165"/>
              </a:spcBef>
              <a:buFont typeface="Segoe UI Symbol"/>
              <a:buChar char="✓"/>
              <a:tabLst>
                <a:tab pos="313055" algn="l"/>
              </a:tabLst>
            </a:pPr>
            <a:r>
              <a:rPr dirty="0" sz="1800">
                <a:latin typeface="Calibri"/>
                <a:cs typeface="Calibri"/>
              </a:rPr>
              <a:t>Predict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employee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attrition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(Yes/No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classification)</a:t>
            </a:r>
            <a:endParaRPr sz="1800">
              <a:latin typeface="Calibri"/>
              <a:cs typeface="Calibri"/>
            </a:endParaRPr>
          </a:p>
          <a:p>
            <a:pPr lvl="1" marL="313055" indent="-220979">
              <a:lnSpc>
                <a:spcPct val="100000"/>
              </a:lnSpc>
              <a:spcBef>
                <a:spcPts val="1515"/>
              </a:spcBef>
              <a:buFont typeface="Segoe UI Symbol"/>
              <a:buChar char="✓"/>
              <a:tabLst>
                <a:tab pos="313055" algn="l"/>
              </a:tabLst>
            </a:pPr>
            <a:r>
              <a:rPr dirty="0" sz="1800">
                <a:latin typeface="Calibri"/>
                <a:cs typeface="Calibri"/>
              </a:rPr>
              <a:t>Achieve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≥80%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prediction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accuracy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test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lvl="1" marL="313055" indent="-220979">
              <a:lnSpc>
                <a:spcPct val="100000"/>
              </a:lnSpc>
              <a:spcBef>
                <a:spcPts val="1520"/>
              </a:spcBef>
              <a:buFont typeface="Segoe UI Symbol"/>
              <a:buChar char="✓"/>
              <a:tabLst>
                <a:tab pos="313055" algn="l"/>
              </a:tabLst>
            </a:pPr>
            <a:r>
              <a:rPr dirty="0" sz="1800">
                <a:latin typeface="Calibri"/>
                <a:cs typeface="Calibri"/>
              </a:rPr>
              <a:t>Identify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top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3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factors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causing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employee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turnover</a:t>
            </a:r>
            <a:endParaRPr sz="1800">
              <a:latin typeface="Calibri"/>
              <a:cs typeface="Calibri"/>
            </a:endParaRPr>
          </a:p>
          <a:p>
            <a:pPr lvl="1" marL="313055" indent="-220979">
              <a:lnSpc>
                <a:spcPct val="100000"/>
              </a:lnSpc>
              <a:spcBef>
                <a:spcPts val="1515"/>
              </a:spcBef>
              <a:buFont typeface="Segoe UI Symbol"/>
              <a:buChar char="✓"/>
              <a:tabLst>
                <a:tab pos="313055" algn="l"/>
              </a:tabLst>
            </a:pPr>
            <a:r>
              <a:rPr dirty="0" sz="1800">
                <a:latin typeface="Calibri"/>
                <a:cs typeface="Calibri"/>
              </a:rPr>
              <a:t>Analyze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IBM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dataset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(1470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employee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records)</a:t>
            </a:r>
            <a:endParaRPr sz="1800">
              <a:latin typeface="Calibri"/>
              <a:cs typeface="Calibri"/>
            </a:endParaRPr>
          </a:p>
          <a:p>
            <a:pPr lvl="1" marL="313055" indent="-220979">
              <a:lnSpc>
                <a:spcPct val="100000"/>
              </a:lnSpc>
              <a:spcBef>
                <a:spcPts val="1515"/>
              </a:spcBef>
              <a:buFont typeface="Segoe UI Symbol"/>
              <a:buChar char="✓"/>
              <a:tabLst>
                <a:tab pos="313055" algn="l"/>
              </a:tabLst>
            </a:pPr>
            <a:r>
              <a:rPr dirty="0" sz="1800">
                <a:latin typeface="Calibri"/>
                <a:cs typeface="Calibri"/>
              </a:rPr>
              <a:t>Build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production-</a:t>
            </a:r>
            <a:r>
              <a:rPr dirty="0" sz="1800">
                <a:latin typeface="Calibri"/>
                <a:cs typeface="Calibri"/>
              </a:rPr>
              <a:t>ready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prediction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6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latin typeface="Courier New"/>
                <a:cs typeface="Courier New"/>
              </a:rPr>
              <a:t>Scope</a:t>
            </a:r>
            <a:r>
              <a:rPr dirty="0" spc="-969" b="0">
                <a:latin typeface="Courier New"/>
                <a:cs typeface="Courier New"/>
              </a:rPr>
              <a:t> </a:t>
            </a:r>
            <a:r>
              <a:rPr dirty="0" b="0">
                <a:latin typeface="Courier New"/>
                <a:cs typeface="Courier New"/>
              </a:rPr>
              <a:t>of</a:t>
            </a:r>
            <a:r>
              <a:rPr dirty="0" spc="-150" b="0">
                <a:latin typeface="Courier New"/>
                <a:cs typeface="Courier New"/>
              </a:rPr>
              <a:t> </a:t>
            </a:r>
            <a:r>
              <a:rPr dirty="0" b="0">
                <a:latin typeface="Courier New"/>
                <a:cs typeface="Courier New"/>
              </a:rPr>
              <a:t>the</a:t>
            </a:r>
            <a:r>
              <a:rPr dirty="0" spc="-95" b="0">
                <a:latin typeface="Courier New"/>
                <a:cs typeface="Courier New"/>
              </a:rPr>
              <a:t> </a:t>
            </a:r>
            <a:r>
              <a:rPr dirty="0" spc="-10" b="0">
                <a:latin typeface="Courier New"/>
                <a:cs typeface="Courier New"/>
              </a:rPr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54417" y="1999106"/>
            <a:ext cx="5290185" cy="329120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latin typeface="Arial MT"/>
                <a:cs typeface="Arial MT"/>
              </a:rPr>
              <a:t>What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included:</a:t>
            </a:r>
            <a:endParaRPr sz="1800">
              <a:latin typeface="Arial MT"/>
              <a:cs typeface="Arial MT"/>
            </a:endParaRPr>
          </a:p>
          <a:p>
            <a:pPr marL="246379" indent="-233679">
              <a:lnSpc>
                <a:spcPct val="100000"/>
              </a:lnSpc>
              <a:spcBef>
                <a:spcPts val="170"/>
              </a:spcBef>
              <a:buFont typeface="Segoe UI Symbol"/>
              <a:buChar char="✓"/>
              <a:tabLst>
                <a:tab pos="246379" algn="l"/>
              </a:tabLst>
            </a:pP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IBM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HR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Analytics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dataset</a:t>
            </a:r>
            <a:r>
              <a:rPr dirty="0" sz="1800" spc="-25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analysis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(1470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Arial MT"/>
                <a:cs typeface="Arial MT"/>
              </a:rPr>
              <a:t>records)</a:t>
            </a:r>
            <a:endParaRPr sz="1800">
              <a:latin typeface="Arial MT"/>
              <a:cs typeface="Arial MT"/>
            </a:endParaRPr>
          </a:p>
          <a:p>
            <a:pPr marL="246379" indent="-233679">
              <a:lnSpc>
                <a:spcPct val="100000"/>
              </a:lnSpc>
              <a:spcBef>
                <a:spcPts val="215"/>
              </a:spcBef>
              <a:buFont typeface="Segoe UI Symbol"/>
              <a:buChar char="✓"/>
              <a:tabLst>
                <a:tab pos="246379" algn="l"/>
              </a:tabLst>
            </a:pP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Logistic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Regression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machine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learning</a:t>
            </a:r>
            <a:r>
              <a:rPr dirty="0" sz="1800" spc="-25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Arial MT"/>
                <a:cs typeface="Arial MT"/>
              </a:rPr>
              <a:t>model</a:t>
            </a:r>
            <a:endParaRPr sz="1800">
              <a:latin typeface="Arial MT"/>
              <a:cs typeface="Arial MT"/>
            </a:endParaRPr>
          </a:p>
          <a:p>
            <a:pPr marL="246379" indent="-233679">
              <a:lnSpc>
                <a:spcPct val="100000"/>
              </a:lnSpc>
              <a:spcBef>
                <a:spcPts val="240"/>
              </a:spcBef>
              <a:buFont typeface="Segoe UI Symbol"/>
              <a:buChar char="✓"/>
              <a:tabLst>
                <a:tab pos="246379" algn="l"/>
              </a:tabLst>
            </a:pP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Data</a:t>
            </a:r>
            <a:r>
              <a:rPr dirty="0" sz="1800" spc="-25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preprocessing</a:t>
            </a:r>
            <a:r>
              <a:rPr dirty="0" sz="1800" spc="-25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and</a:t>
            </a:r>
            <a:r>
              <a:rPr dirty="0" sz="1800" spc="-2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feature</a:t>
            </a:r>
            <a:r>
              <a:rPr dirty="0" sz="1800" spc="-2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Arial MT"/>
                <a:cs typeface="Arial MT"/>
              </a:rPr>
              <a:t>engineering</a:t>
            </a:r>
            <a:endParaRPr sz="1800">
              <a:latin typeface="Arial MT"/>
              <a:cs typeface="Arial MT"/>
            </a:endParaRPr>
          </a:p>
          <a:p>
            <a:pPr marL="246379" indent="-233679">
              <a:lnSpc>
                <a:spcPct val="100000"/>
              </a:lnSpc>
              <a:spcBef>
                <a:spcPts val="240"/>
              </a:spcBef>
              <a:buFont typeface="Segoe UI Symbol"/>
              <a:buChar char="✓"/>
              <a:tabLst>
                <a:tab pos="246379" algn="l"/>
              </a:tabLst>
            </a:pP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Model</a:t>
            </a:r>
            <a:r>
              <a:rPr dirty="0" sz="1800" spc="-25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evaluation</a:t>
            </a:r>
            <a:r>
              <a:rPr dirty="0" sz="1800" spc="-2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and</a:t>
            </a:r>
            <a:r>
              <a:rPr dirty="0" sz="1800" spc="-25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business</a:t>
            </a:r>
            <a:r>
              <a:rPr dirty="0" sz="1800" spc="-2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Arial MT"/>
                <a:cs typeface="Arial MT"/>
              </a:rPr>
              <a:t>insights</a:t>
            </a:r>
            <a:endParaRPr sz="1800">
              <a:latin typeface="Arial MT"/>
              <a:cs typeface="Arial MT"/>
            </a:endParaRPr>
          </a:p>
          <a:p>
            <a:pPr marL="246379" indent="-233679">
              <a:lnSpc>
                <a:spcPct val="100000"/>
              </a:lnSpc>
              <a:spcBef>
                <a:spcPts val="244"/>
              </a:spcBef>
              <a:buFont typeface="Segoe UI Symbol"/>
              <a:buChar char="✓"/>
              <a:tabLst>
                <a:tab pos="246379" algn="l"/>
              </a:tabLst>
            </a:pP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84%</a:t>
            </a:r>
            <a:r>
              <a:rPr dirty="0" sz="1800" spc="-35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accuracy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4D4D4B"/>
                </a:solidFill>
                <a:latin typeface="Arial MT"/>
                <a:cs typeface="Arial MT"/>
              </a:rPr>
              <a:t>prediction</a:t>
            </a:r>
            <a:r>
              <a:rPr dirty="0" sz="1800" spc="-3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4D4D4B"/>
                </a:solidFill>
                <a:latin typeface="Arial MT"/>
                <a:cs typeface="Arial MT"/>
              </a:rPr>
              <a:t>system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Arial MT"/>
              <a:cs typeface="Arial MT"/>
            </a:endParaRPr>
          </a:p>
          <a:p>
            <a:pPr marL="91440" indent="-88900">
              <a:lnSpc>
                <a:spcPct val="100000"/>
              </a:lnSpc>
              <a:spcBef>
                <a:spcPts val="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Arial MT"/>
                <a:cs typeface="Arial MT"/>
              </a:rPr>
              <a:t>What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is</a:t>
            </a:r>
            <a:r>
              <a:rPr dirty="0" sz="1800" spc="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included:</a:t>
            </a:r>
            <a:endParaRPr sz="18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spcBef>
                <a:spcPts val="165"/>
              </a:spcBef>
            </a:pPr>
            <a:r>
              <a:rPr dirty="0" sz="1800">
                <a:latin typeface="Segoe UI Symbol"/>
                <a:cs typeface="Segoe UI Symbol"/>
              </a:rPr>
              <a:t>✗</a:t>
            </a:r>
            <a:r>
              <a:rPr dirty="0" sz="1800" spc="-100">
                <a:latin typeface="Segoe UI Symbol"/>
                <a:cs typeface="Segoe UI Symbol"/>
              </a:rPr>
              <a:t> </a:t>
            </a:r>
            <a:r>
              <a:rPr dirty="0" sz="1800" spc="-1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web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application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deployment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latin typeface="Segoe UI Symbol"/>
                <a:cs typeface="Segoe UI Symbol"/>
              </a:rPr>
              <a:t>✗</a:t>
            </a:r>
            <a:r>
              <a:rPr dirty="0" sz="1800" spc="-120">
                <a:latin typeface="Segoe UI Symbol"/>
                <a:cs typeface="Segoe UI Symbol"/>
              </a:rPr>
              <a:t> </a:t>
            </a:r>
            <a:r>
              <a:rPr dirty="0" sz="1800">
                <a:latin typeface="Calibri"/>
                <a:cs typeface="Calibri"/>
              </a:rPr>
              <a:t>Live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employee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collection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>
                <a:latin typeface="Segoe UI Symbol"/>
                <a:cs typeface="Segoe UI Symbol"/>
              </a:rPr>
              <a:t>✗</a:t>
            </a:r>
            <a:r>
              <a:rPr dirty="0" sz="1800" spc="-125">
                <a:latin typeface="Segoe UI Symbol"/>
                <a:cs typeface="Segoe UI Symbol"/>
              </a:rPr>
              <a:t> </a:t>
            </a:r>
            <a:r>
              <a:rPr dirty="0" sz="1800">
                <a:latin typeface="Calibri"/>
                <a:cs typeface="Calibri"/>
              </a:rPr>
              <a:t>Complex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deep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learning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models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892" y="317436"/>
            <a:ext cx="9385935" cy="132905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4980"/>
              </a:lnSpc>
              <a:spcBef>
                <a:spcPts val="500"/>
              </a:spcBef>
            </a:pPr>
            <a:r>
              <a:rPr dirty="0" b="0">
                <a:latin typeface="Courier New"/>
                <a:cs typeface="Courier New"/>
              </a:rPr>
              <a:t>Literature</a:t>
            </a:r>
            <a:r>
              <a:rPr dirty="0" spc="-100" b="0">
                <a:latin typeface="Courier New"/>
                <a:cs typeface="Courier New"/>
              </a:rPr>
              <a:t> </a:t>
            </a:r>
            <a:r>
              <a:rPr dirty="0" b="0">
                <a:latin typeface="Courier New"/>
                <a:cs typeface="Courier New"/>
              </a:rPr>
              <a:t>Review</a:t>
            </a:r>
            <a:r>
              <a:rPr dirty="0" spc="-135" b="0">
                <a:latin typeface="Courier New"/>
                <a:cs typeface="Courier New"/>
              </a:rPr>
              <a:t> </a:t>
            </a:r>
            <a:r>
              <a:rPr dirty="0" b="0">
                <a:latin typeface="Courier New"/>
                <a:cs typeface="Courier New"/>
              </a:rPr>
              <a:t>/</a:t>
            </a:r>
            <a:r>
              <a:rPr dirty="0" spc="-80" b="0">
                <a:latin typeface="Courier New"/>
                <a:cs typeface="Courier New"/>
              </a:rPr>
              <a:t> </a:t>
            </a:r>
            <a:r>
              <a:rPr dirty="0" spc="-10" b="0">
                <a:latin typeface="Courier New"/>
                <a:cs typeface="Courier New"/>
              </a:rPr>
              <a:t>Existing System: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7800" indent="-165100">
              <a:lnSpc>
                <a:spcPct val="100000"/>
              </a:lnSpc>
              <a:spcBef>
                <a:spcPts val="100"/>
              </a:spcBef>
              <a:buChar char="•"/>
              <a:tabLst>
                <a:tab pos="177800" algn="l"/>
              </a:tabLst>
            </a:pPr>
            <a:r>
              <a:rPr dirty="0"/>
              <a:t>Kaggle</a:t>
            </a:r>
            <a:r>
              <a:rPr dirty="0" spc="-40"/>
              <a:t> </a:t>
            </a:r>
            <a:r>
              <a:rPr dirty="0"/>
              <a:t>notebooks:</a:t>
            </a:r>
            <a:r>
              <a:rPr dirty="0" spc="-60"/>
              <a:t> </a:t>
            </a:r>
            <a:r>
              <a:rPr dirty="0" spc="-10"/>
              <a:t>82-</a:t>
            </a:r>
            <a:r>
              <a:rPr dirty="0"/>
              <a:t>88%</a:t>
            </a:r>
            <a:r>
              <a:rPr dirty="0" spc="-40"/>
              <a:t> </a:t>
            </a:r>
            <a:r>
              <a:rPr dirty="0" spc="-10"/>
              <a:t>accuracy</a:t>
            </a:r>
            <a:r>
              <a:rPr dirty="0" spc="-40"/>
              <a:t> </a:t>
            </a:r>
            <a:r>
              <a:rPr dirty="0"/>
              <a:t>(complex</a:t>
            </a:r>
            <a:r>
              <a:rPr dirty="0" spc="-45"/>
              <a:t> </a:t>
            </a:r>
            <a:r>
              <a:rPr dirty="0" spc="-10"/>
              <a:t>models)</a:t>
            </a:r>
          </a:p>
          <a:p>
            <a:pPr>
              <a:lnSpc>
                <a:spcPct val="100000"/>
              </a:lnSpc>
              <a:buFont typeface="Calibri"/>
              <a:buChar char="•"/>
            </a:pPr>
          </a:p>
          <a:p>
            <a:pPr>
              <a:lnSpc>
                <a:spcPct val="100000"/>
              </a:lnSpc>
              <a:spcBef>
                <a:spcPts val="1195"/>
              </a:spcBef>
              <a:buFont typeface="Calibri"/>
              <a:buChar char="•"/>
            </a:pPr>
          </a:p>
          <a:p>
            <a:pPr marL="177800" indent="-165100">
              <a:lnSpc>
                <a:spcPct val="100000"/>
              </a:lnSpc>
              <a:buFont typeface="Calibri"/>
              <a:buChar char="•"/>
              <a:tabLst>
                <a:tab pos="177800" algn="l"/>
              </a:tabLst>
            </a:pPr>
            <a:r>
              <a:rPr dirty="0"/>
              <a:t>Academic</a:t>
            </a:r>
            <a:r>
              <a:rPr dirty="0" spc="-60"/>
              <a:t> </a:t>
            </a:r>
            <a:r>
              <a:rPr dirty="0"/>
              <a:t>papers:</a:t>
            </a:r>
            <a:r>
              <a:rPr dirty="0" spc="-55"/>
              <a:t> </a:t>
            </a:r>
            <a:r>
              <a:rPr dirty="0"/>
              <a:t>Ensemble</a:t>
            </a:r>
            <a:r>
              <a:rPr dirty="0" spc="-65"/>
              <a:t> </a:t>
            </a:r>
            <a:r>
              <a:rPr dirty="0"/>
              <a:t>methods</a:t>
            </a:r>
            <a:r>
              <a:rPr dirty="0" spc="-50"/>
              <a:t> </a:t>
            </a:r>
            <a:r>
              <a:rPr dirty="0"/>
              <a:t>(black</a:t>
            </a:r>
            <a:r>
              <a:rPr dirty="0" spc="-45"/>
              <a:t> </a:t>
            </a:r>
            <a:r>
              <a:rPr dirty="0" spc="-20"/>
              <a:t>box)</a:t>
            </a:r>
          </a:p>
          <a:p>
            <a:pPr marL="177800" indent="-165100">
              <a:lnSpc>
                <a:spcPct val="100000"/>
              </a:lnSpc>
              <a:spcBef>
                <a:spcPts val="570"/>
              </a:spcBef>
              <a:buFont typeface="Calibri"/>
              <a:buChar char="•"/>
              <a:tabLst>
                <a:tab pos="177800" algn="l"/>
              </a:tabLst>
            </a:pPr>
            <a:r>
              <a:rPr dirty="0"/>
              <a:t>Commercial</a:t>
            </a:r>
            <a:r>
              <a:rPr dirty="0" spc="-30"/>
              <a:t> </a:t>
            </a:r>
            <a:r>
              <a:rPr dirty="0"/>
              <a:t>HR</a:t>
            </a:r>
            <a:r>
              <a:rPr dirty="0" spc="-40"/>
              <a:t> </a:t>
            </a:r>
            <a:r>
              <a:rPr dirty="0"/>
              <a:t>tools:</a:t>
            </a:r>
            <a:r>
              <a:rPr dirty="0" spc="-45"/>
              <a:t> </a:t>
            </a:r>
            <a:r>
              <a:rPr dirty="0"/>
              <a:t>Basic</a:t>
            </a:r>
            <a:r>
              <a:rPr dirty="0" spc="-50"/>
              <a:t> </a:t>
            </a:r>
            <a:r>
              <a:rPr dirty="0"/>
              <a:t>statistical</a:t>
            </a:r>
            <a:r>
              <a:rPr dirty="0" spc="-30"/>
              <a:t> </a:t>
            </a:r>
            <a:r>
              <a:rPr dirty="0" spc="-10"/>
              <a:t>dashboards</a:t>
            </a:r>
          </a:p>
          <a:p>
            <a:pPr lvl="1" marL="250190" indent="-88900">
              <a:lnSpc>
                <a:spcPts val="3345"/>
              </a:lnSpc>
              <a:spcBef>
                <a:spcPts val="15"/>
              </a:spcBef>
              <a:buSzPct val="60714"/>
              <a:buChar char="•"/>
              <a:tabLst>
                <a:tab pos="250190" algn="l"/>
              </a:tabLst>
            </a:pPr>
            <a:r>
              <a:rPr dirty="0" sz="2800" spc="-10">
                <a:latin typeface="Arial MT"/>
                <a:cs typeface="Arial MT"/>
              </a:rPr>
              <a:t>Limitations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existing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approaches:</a:t>
            </a:r>
            <a:endParaRPr sz="2800">
              <a:latin typeface="Arial MT"/>
              <a:cs typeface="Arial MT"/>
            </a:endParaRPr>
          </a:p>
          <a:p>
            <a:pPr lvl="2" marL="415925" indent="-165100">
              <a:lnSpc>
                <a:spcPts val="2145"/>
              </a:lnSpc>
              <a:buChar char="•"/>
              <a:tabLst>
                <a:tab pos="415925" algn="l"/>
              </a:tabLst>
            </a:pPr>
            <a:r>
              <a:rPr dirty="0" sz="1800">
                <a:latin typeface="Calibri"/>
                <a:cs typeface="Calibri"/>
              </a:rPr>
              <a:t>Overly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complex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business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users</a:t>
            </a:r>
            <a:endParaRPr sz="1800">
              <a:latin typeface="Calibri"/>
              <a:cs typeface="Calibri"/>
            </a:endParaRPr>
          </a:p>
          <a:p>
            <a:pPr lvl="2" marL="415925" indent="-165100">
              <a:lnSpc>
                <a:spcPct val="100000"/>
              </a:lnSpc>
              <a:spcBef>
                <a:spcPts val="40"/>
              </a:spcBef>
              <a:buChar char="•"/>
              <a:tabLst>
                <a:tab pos="415925" algn="l"/>
              </a:tabLst>
            </a:pPr>
            <a:r>
              <a:rPr dirty="0" sz="1800">
                <a:latin typeface="Calibri"/>
                <a:cs typeface="Calibri"/>
              </a:rPr>
              <a:t>Lack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actionable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insights</a:t>
            </a:r>
            <a:endParaRPr sz="1800">
              <a:latin typeface="Calibri"/>
              <a:cs typeface="Calibri"/>
            </a:endParaRPr>
          </a:p>
          <a:p>
            <a:pPr lvl="2" marL="415925" indent="-165100">
              <a:lnSpc>
                <a:spcPct val="100000"/>
              </a:lnSpc>
              <a:spcBef>
                <a:spcPts val="40"/>
              </a:spcBef>
              <a:buChar char="•"/>
              <a:tabLst>
                <a:tab pos="415925" algn="l"/>
              </a:tabLst>
            </a:pPr>
            <a:r>
              <a:rPr dirty="0" sz="1800">
                <a:latin typeface="Calibri"/>
                <a:cs typeface="Calibri"/>
              </a:rPr>
              <a:t>Poor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interpretability</a:t>
            </a:r>
            <a:endParaRPr sz="1800">
              <a:latin typeface="Calibri"/>
              <a:cs typeface="Calibri"/>
            </a:endParaRPr>
          </a:p>
          <a:p>
            <a:pPr marL="250825">
              <a:lnSpc>
                <a:spcPct val="100000"/>
              </a:lnSpc>
              <a:spcBef>
                <a:spcPts val="1290"/>
              </a:spcBef>
            </a:pPr>
            <a:r>
              <a:rPr dirty="0"/>
              <a:t>My</a:t>
            </a:r>
            <a:r>
              <a:rPr dirty="0" spc="5"/>
              <a:t> </a:t>
            </a:r>
            <a:r>
              <a:rPr dirty="0" spc="-10"/>
              <a:t>Contribution:</a:t>
            </a:r>
          </a:p>
          <a:p>
            <a:pPr marL="250825">
              <a:lnSpc>
                <a:spcPct val="100000"/>
              </a:lnSpc>
              <a:spcBef>
                <a:spcPts val="45"/>
              </a:spcBef>
            </a:pPr>
            <a:r>
              <a:rPr dirty="0"/>
              <a:t>Simple</a:t>
            </a:r>
            <a:r>
              <a:rPr dirty="0" spc="-40"/>
              <a:t> </a:t>
            </a:r>
            <a:r>
              <a:rPr dirty="0"/>
              <a:t>84%</a:t>
            </a:r>
            <a:r>
              <a:rPr dirty="0" spc="-40"/>
              <a:t> </a:t>
            </a:r>
            <a:r>
              <a:rPr dirty="0"/>
              <a:t>model</a:t>
            </a:r>
            <a:r>
              <a:rPr dirty="0" spc="-35"/>
              <a:t> </a:t>
            </a:r>
            <a:r>
              <a:rPr dirty="0"/>
              <a:t>+</a:t>
            </a:r>
            <a:r>
              <a:rPr dirty="0" spc="-45"/>
              <a:t> </a:t>
            </a:r>
            <a:r>
              <a:rPr dirty="0"/>
              <a:t>Clear</a:t>
            </a:r>
            <a:r>
              <a:rPr dirty="0" spc="-55"/>
              <a:t> </a:t>
            </a:r>
            <a:r>
              <a:rPr dirty="0"/>
              <a:t>business</a:t>
            </a:r>
            <a:r>
              <a:rPr dirty="0" spc="-55"/>
              <a:t> </a:t>
            </a:r>
            <a:r>
              <a:rPr dirty="0" spc="-10"/>
              <a:t>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6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0">
                <a:latin typeface="Courier New"/>
                <a:cs typeface="Courier New"/>
              </a:rPr>
              <a:t>Proposed</a:t>
            </a:r>
            <a:r>
              <a:rPr dirty="0" spc="-280" b="0">
                <a:latin typeface="Courier New"/>
                <a:cs typeface="Courier New"/>
              </a:rPr>
              <a:t> </a:t>
            </a:r>
            <a:r>
              <a:rPr dirty="0" spc="-10" b="0">
                <a:latin typeface="Courier New"/>
                <a:cs typeface="Courier New"/>
              </a:rPr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5367" y="1963165"/>
            <a:ext cx="8447405" cy="18154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Overview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proposed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solution: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65"/>
              </a:spcBef>
            </a:pPr>
            <a:r>
              <a:rPr dirty="0" sz="1800">
                <a:latin typeface="Calibri"/>
                <a:cs typeface="Calibri"/>
              </a:rPr>
              <a:t>Machine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Learning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employee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attrition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Key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features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improvements: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 spc="-49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dirty="0" sz="1800" spc="62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-114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dirty="0" sz="1800">
                <a:latin typeface="Calibri"/>
                <a:cs typeface="Calibri"/>
              </a:rPr>
              <a:t>84%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accuracy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(production-ready)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70"/>
              </a:spcBef>
            </a:pPr>
            <a:r>
              <a:rPr dirty="0" sz="1800" spc="-49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dirty="0" sz="1800" spc="62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-12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dirty="0" sz="1800">
                <a:latin typeface="Calibri"/>
                <a:cs typeface="Calibri"/>
              </a:rPr>
              <a:t>Interpretable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(Salary/Age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impact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visible)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 spc="-49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dirty="0" sz="1800" spc="62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-12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dirty="0" sz="1800">
                <a:latin typeface="Calibri"/>
                <a:cs typeface="Calibri"/>
              </a:rPr>
              <a:t>Actionable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business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insights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HR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dirty="0" sz="1800" spc="-49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dirty="0" sz="1800" spc="62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-110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dirty="0" sz="1800" spc="-10">
                <a:latin typeface="Calibri"/>
                <a:cs typeface="Calibri"/>
              </a:rPr>
              <a:t>Beginner-</a:t>
            </a:r>
            <a:r>
              <a:rPr dirty="0" sz="1800">
                <a:latin typeface="Calibri"/>
                <a:cs typeface="Calibri"/>
              </a:rPr>
              <a:t>friendly</a:t>
            </a:r>
            <a:r>
              <a:rPr dirty="0" sz="1800" spc="-10">
                <a:latin typeface="Calibri"/>
                <a:cs typeface="Calibri"/>
              </a:rPr>
              <a:t> implementation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63066" y="3579876"/>
            <a:ext cx="7769859" cy="0"/>
          </a:xfrm>
          <a:custGeom>
            <a:avLst/>
            <a:gdLst/>
            <a:ahLst/>
            <a:cxnLst/>
            <a:rect l="l" t="t" r="r" b="b"/>
            <a:pathLst>
              <a:path w="7769859" h="0">
                <a:moveTo>
                  <a:pt x="0" y="0"/>
                </a:moveTo>
                <a:lnTo>
                  <a:pt x="7769352" y="0"/>
                </a:lnTo>
              </a:path>
            </a:pathLst>
          </a:custGeom>
          <a:ln w="3175">
            <a:solidFill>
              <a:srgbClr val="1874C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202689" y="4762500"/>
            <a:ext cx="609600" cy="182880"/>
            <a:chOff x="1202689" y="4762500"/>
            <a:chExt cx="609600" cy="1828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5089" y="4762500"/>
              <a:ext cx="457199" cy="6096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2689" y="4861560"/>
              <a:ext cx="609599" cy="83819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7790" y="716280"/>
            <a:ext cx="1112520" cy="9906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2689" y="1760220"/>
            <a:ext cx="1424940" cy="8381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80970" y="4381500"/>
            <a:ext cx="198119" cy="6096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80970" y="4747259"/>
            <a:ext cx="198119" cy="6096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1510" y="4381500"/>
            <a:ext cx="198120" cy="6096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1510" y="4747259"/>
            <a:ext cx="198120" cy="6096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91510" y="4869179"/>
            <a:ext cx="198120" cy="6095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178629" y="665480"/>
            <a:ext cx="4569460" cy="3082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 marR="1884045">
              <a:lnSpc>
                <a:spcPct val="113300"/>
              </a:lnSpc>
              <a:spcBef>
                <a:spcPts val="100"/>
              </a:spcBef>
            </a:pPr>
            <a:r>
              <a:rPr dirty="0" sz="750" spc="-45">
                <a:solidFill>
                  <a:srgbClr val="28B3DD"/>
                </a:solidFill>
                <a:latin typeface="Courier New"/>
                <a:cs typeface="Courier New"/>
              </a:rPr>
              <a:t>from</a:t>
            </a:r>
            <a:r>
              <a:rPr dirty="0" sz="750" spc="-15">
                <a:solidFill>
                  <a:srgbClr val="28B3DD"/>
                </a:solidFill>
                <a:latin typeface="Courier New"/>
                <a:cs typeface="Courier New"/>
              </a:rPr>
              <a:t> </a:t>
            </a:r>
            <a:r>
              <a:rPr dirty="0" sz="750" spc="-55">
                <a:solidFill>
                  <a:srgbClr val="212121"/>
                </a:solidFill>
                <a:latin typeface="Courier New"/>
                <a:cs typeface="Courier New"/>
              </a:rPr>
              <a:t>sklearn.model_selection</a:t>
            </a:r>
            <a:r>
              <a:rPr dirty="0" sz="750" spc="-12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45">
                <a:solidFill>
                  <a:srgbClr val="8C9000"/>
                </a:solidFill>
                <a:latin typeface="Courier New"/>
                <a:cs typeface="Courier New"/>
              </a:rPr>
              <a:t>i•pert</a:t>
            </a:r>
            <a:r>
              <a:rPr dirty="0" sz="750" spc="-25">
                <a:solidFill>
                  <a:srgbClr val="8C9000"/>
                </a:solidFill>
                <a:latin typeface="Courier New"/>
                <a:cs typeface="Courier New"/>
              </a:rPr>
              <a:t> </a:t>
            </a:r>
            <a:r>
              <a:rPr dirty="0" sz="750" spc="-45">
                <a:solidFill>
                  <a:srgbClr val="212121"/>
                </a:solidFill>
                <a:latin typeface="Courier New"/>
                <a:cs typeface="Courier New"/>
              </a:rPr>
              <a:t>train_test_split </a:t>
            </a:r>
            <a:r>
              <a:rPr dirty="0" sz="750" spc="-45">
                <a:solidFill>
                  <a:srgbClr val="28B3DD"/>
                </a:solidFill>
                <a:latin typeface="Courier New"/>
                <a:cs typeface="Courier New"/>
              </a:rPr>
              <a:t>from </a:t>
            </a:r>
            <a:r>
              <a:rPr dirty="0" sz="750" spc="-55">
                <a:solidFill>
                  <a:srgbClr val="212121"/>
                </a:solidFill>
                <a:latin typeface="Courier New"/>
                <a:cs typeface="Courier New"/>
              </a:rPr>
              <a:t>sklearn.linear_model</a:t>
            </a:r>
            <a:r>
              <a:rPr dirty="0" sz="750" spc="-12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35">
                <a:solidFill>
                  <a:srgbClr val="8C9000"/>
                </a:solidFill>
                <a:latin typeface="Courier New"/>
                <a:cs typeface="Courier New"/>
              </a:rPr>
              <a:t>i•port</a:t>
            </a:r>
            <a:r>
              <a:rPr dirty="0" sz="750" spc="20">
                <a:solidFill>
                  <a:srgbClr val="8C9000"/>
                </a:solidFill>
                <a:latin typeface="Courier New"/>
                <a:cs typeface="Courier New"/>
              </a:rPr>
              <a:t> </a:t>
            </a:r>
            <a:r>
              <a:rPr dirty="0" sz="750" spc="-30">
                <a:solidFill>
                  <a:srgbClr val="9ADFFF"/>
                </a:solidFill>
                <a:latin typeface="Courier New"/>
                <a:cs typeface="Courier New"/>
              </a:rPr>
              <a:t>LogisticRegression</a:t>
            </a:r>
            <a:endParaRPr sz="75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120"/>
              </a:spcBef>
            </a:pPr>
            <a:r>
              <a:rPr dirty="0" sz="750" spc="-45">
                <a:solidFill>
                  <a:srgbClr val="28B3DD"/>
                </a:solidFill>
                <a:latin typeface="Courier New"/>
                <a:cs typeface="Courier New"/>
              </a:rPr>
              <a:t>from</a:t>
            </a:r>
            <a:r>
              <a:rPr dirty="0" sz="750" spc="-20">
                <a:solidFill>
                  <a:srgbClr val="28B3DD"/>
                </a:solidFill>
                <a:latin typeface="Courier New"/>
                <a:cs typeface="Courier New"/>
              </a:rPr>
              <a:t> </a:t>
            </a:r>
            <a:r>
              <a:rPr dirty="0" sz="750" spc="-55">
                <a:solidFill>
                  <a:srgbClr val="2D2D2D"/>
                </a:solidFill>
                <a:latin typeface="Courier New"/>
                <a:cs typeface="Courier New"/>
              </a:rPr>
              <a:t>sklearn.metrics </a:t>
            </a:r>
            <a:r>
              <a:rPr dirty="0" sz="750" spc="-55">
                <a:solidFill>
                  <a:srgbClr val="008059"/>
                </a:solidFill>
                <a:latin typeface="Courier New"/>
                <a:cs typeface="Courier New"/>
              </a:rPr>
              <a:t>iaport</a:t>
            </a:r>
            <a:r>
              <a:rPr dirty="0" sz="750" spc="35">
                <a:solidFill>
                  <a:srgbClr val="008059"/>
                </a:solidFill>
                <a:latin typeface="Courier New"/>
                <a:cs typeface="Courier New"/>
              </a:rPr>
              <a:t> </a:t>
            </a:r>
            <a:r>
              <a:rPr dirty="0" sz="750" spc="-55">
                <a:solidFill>
                  <a:srgbClr val="212121"/>
                </a:solidFill>
                <a:latin typeface="Courier New"/>
                <a:cs typeface="Courier New"/>
              </a:rPr>
              <a:t>accuracy_score.</a:t>
            </a:r>
            <a:r>
              <a:rPr dirty="0" sz="750" spc="-7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750" spc="-25">
                <a:solidFill>
                  <a:srgbClr val="212121"/>
                </a:solidFill>
                <a:latin typeface="Courier New"/>
                <a:cs typeface="Courier New"/>
              </a:rPr>
              <a:t>c1assification_report</a:t>
            </a: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7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750">
              <a:latin typeface="Courier New"/>
              <a:cs typeface="Courier New"/>
            </a:endParaRPr>
          </a:p>
          <a:p>
            <a:pPr marL="16510" marR="1467485" indent="-4445">
              <a:lnSpc>
                <a:spcPct val="106200"/>
              </a:lnSpc>
            </a:pPr>
            <a:r>
              <a:rPr dirty="0" sz="800">
                <a:solidFill>
                  <a:srgbClr val="4499E2"/>
                </a:solidFill>
                <a:latin typeface="Courier New"/>
                <a:cs typeface="Courier New"/>
              </a:rPr>
              <a:t>I</a:t>
            </a:r>
            <a:r>
              <a:rPr dirty="0" sz="800" spc="35">
                <a:solidFill>
                  <a:srgbClr val="4499E2"/>
                </a:solidFill>
                <a:latin typeface="Courier New"/>
                <a:cs typeface="Courier New"/>
              </a:rPr>
              <a:t> </a:t>
            </a:r>
            <a:r>
              <a:rPr dirty="0" sz="800" spc="-135">
                <a:solidFill>
                  <a:srgbClr val="8900C1"/>
                </a:solidFill>
                <a:latin typeface="Courier New"/>
                <a:cs typeface="Courier New"/>
              </a:rPr>
              <a:t>=</a:t>
            </a:r>
            <a:r>
              <a:rPr dirty="0" sz="800" spc="-50">
                <a:solidFill>
                  <a:srgbClr val="8900C1"/>
                </a:solidFill>
                <a:latin typeface="Courier New"/>
                <a:cs typeface="Courier New"/>
              </a:rPr>
              <a:t> </a:t>
            </a:r>
            <a:r>
              <a:rPr dirty="0" sz="800" spc="-85">
                <a:solidFill>
                  <a:srgbClr val="212121"/>
                </a:solidFill>
                <a:latin typeface="Courier New"/>
                <a:cs typeface="Courier New"/>
              </a:rPr>
              <a:t>simple_data[[’Age’.</a:t>
            </a:r>
            <a:r>
              <a:rPr dirty="0" sz="800" spc="-6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800" spc="-85">
                <a:solidFill>
                  <a:srgbClr val="212121"/>
                </a:solidFill>
                <a:latin typeface="Courier New"/>
                <a:cs typeface="Courier New"/>
              </a:rPr>
              <a:t>’Monthlylncome’.</a:t>
            </a:r>
            <a:r>
              <a:rPr dirty="0" sz="800" spc="-5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800" spc="-60">
                <a:solidFill>
                  <a:srgbClr val="C8BCFF"/>
                </a:solidFill>
                <a:latin typeface="Courier New"/>
                <a:cs typeface="Courier New"/>
              </a:rPr>
              <a:t>’JobSatisfaction’]] </a:t>
            </a:r>
            <a:r>
              <a:rPr dirty="0" sz="800">
                <a:solidFill>
                  <a:srgbClr val="2172BF"/>
                </a:solidFill>
                <a:latin typeface="Courier New"/>
                <a:cs typeface="Courier New"/>
              </a:rPr>
              <a:t>y</a:t>
            </a:r>
            <a:r>
              <a:rPr dirty="0" sz="800" spc="-100">
                <a:solidFill>
                  <a:srgbClr val="2172BF"/>
                </a:solidFill>
                <a:latin typeface="Courier New"/>
                <a:cs typeface="Courier New"/>
              </a:rPr>
              <a:t> </a:t>
            </a:r>
            <a:r>
              <a:rPr dirty="0" sz="800" spc="-135">
                <a:solidFill>
                  <a:srgbClr val="8900C1"/>
                </a:solidFill>
                <a:latin typeface="Courier New"/>
                <a:cs typeface="Courier New"/>
              </a:rPr>
              <a:t>=</a:t>
            </a:r>
            <a:r>
              <a:rPr dirty="0" sz="800" spc="-95">
                <a:solidFill>
                  <a:srgbClr val="8900C1"/>
                </a:solidFill>
                <a:latin typeface="Courier New"/>
                <a:cs typeface="Courier New"/>
              </a:rPr>
              <a:t> </a:t>
            </a:r>
            <a:r>
              <a:rPr dirty="0" sz="800" spc="-45">
                <a:solidFill>
                  <a:srgbClr val="2D2D2D"/>
                </a:solidFill>
                <a:latin typeface="Courier New"/>
                <a:cs typeface="Courier New"/>
              </a:rPr>
              <a:t>simple_data[’Attrition’]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800">
              <a:latin typeface="Courier New"/>
              <a:cs typeface="Courier New"/>
            </a:endParaRPr>
          </a:p>
          <a:p>
            <a:pPr marL="22225">
              <a:lnSpc>
                <a:spcPct val="100000"/>
              </a:lnSpc>
              <a:spcBef>
                <a:spcPts val="5"/>
              </a:spcBef>
            </a:pPr>
            <a:r>
              <a:rPr dirty="0" sz="800">
                <a:solidFill>
                  <a:srgbClr val="212121"/>
                </a:solidFill>
                <a:latin typeface="Times New Roman"/>
                <a:cs typeface="Times New Roman"/>
              </a:rPr>
              <a:t>Z_t</a:t>
            </a:r>
            <a:r>
              <a:rPr dirty="0" sz="800" spc="-7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800" spc="60">
                <a:solidFill>
                  <a:srgbClr val="9A9944"/>
                </a:solidFill>
                <a:latin typeface="Times New Roman"/>
                <a:cs typeface="Times New Roman"/>
              </a:rPr>
              <a:t>rain</a:t>
            </a:r>
            <a:r>
              <a:rPr dirty="0" sz="800" spc="229">
                <a:solidFill>
                  <a:srgbClr val="9A9944"/>
                </a:solidFill>
                <a:latin typeface="Times New Roman"/>
                <a:cs typeface="Times New Roman"/>
              </a:rPr>
              <a:t>  </a:t>
            </a:r>
            <a:r>
              <a:rPr dirty="0" sz="800" spc="65">
                <a:solidFill>
                  <a:srgbClr val="2D2D2D"/>
                </a:solidFill>
                <a:latin typeface="Times New Roman"/>
                <a:cs typeface="Times New Roman"/>
              </a:rPr>
              <a:t>x_test</a:t>
            </a:r>
            <a:r>
              <a:rPr dirty="0" sz="800" spc="215">
                <a:solidFill>
                  <a:srgbClr val="2D2D2D"/>
                </a:solidFill>
                <a:latin typeface="Times New Roman"/>
                <a:cs typeface="Times New Roman"/>
              </a:rPr>
              <a:t>  </a:t>
            </a:r>
            <a:r>
              <a:rPr dirty="0" sz="800" spc="60">
                <a:solidFill>
                  <a:srgbClr val="212121"/>
                </a:solidFill>
                <a:latin typeface="Times New Roman"/>
                <a:cs typeface="Times New Roman"/>
              </a:rPr>
              <a:t>y_t</a:t>
            </a:r>
            <a:r>
              <a:rPr dirty="0" sz="800" spc="60">
                <a:solidFill>
                  <a:srgbClr val="9A9944"/>
                </a:solidFill>
                <a:latin typeface="Times New Roman"/>
                <a:cs typeface="Times New Roman"/>
              </a:rPr>
              <a:t>ra</a:t>
            </a:r>
            <a:r>
              <a:rPr dirty="0" sz="800" spc="-90">
                <a:solidFill>
                  <a:srgbClr val="9A994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21216E"/>
                </a:solidFill>
                <a:latin typeface="Times New Roman"/>
                <a:cs typeface="Times New Roman"/>
              </a:rPr>
              <a:t>in</a:t>
            </a:r>
            <a:r>
              <a:rPr dirty="0" sz="800" spc="270">
                <a:solidFill>
                  <a:srgbClr val="21216E"/>
                </a:solidFill>
                <a:latin typeface="Times New Roman"/>
                <a:cs typeface="Times New Roman"/>
              </a:rPr>
              <a:t>  </a:t>
            </a:r>
            <a:r>
              <a:rPr dirty="0" sz="800" spc="55">
                <a:solidFill>
                  <a:srgbClr val="212121"/>
                </a:solidFill>
                <a:latin typeface="Times New Roman"/>
                <a:cs typeface="Times New Roman"/>
              </a:rPr>
              <a:t>y_test</a:t>
            </a:r>
            <a:r>
              <a:rPr dirty="0" sz="800" spc="3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B1CD"/>
                </a:solidFill>
                <a:latin typeface="Times New Roman"/>
                <a:cs typeface="Times New Roman"/>
              </a:rPr>
              <a:t>=</a:t>
            </a:r>
            <a:r>
              <a:rPr dirty="0" sz="800" spc="210">
                <a:solidFill>
                  <a:srgbClr val="FFB1CD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BF7221"/>
                </a:solidFill>
                <a:latin typeface="Times New Roman"/>
                <a:cs typeface="Times New Roman"/>
              </a:rPr>
              <a:t>I</a:t>
            </a:r>
            <a:r>
              <a:rPr dirty="0" sz="800" spc="75">
                <a:solidFill>
                  <a:srgbClr val="BF7221"/>
                </a:solidFill>
                <a:latin typeface="Times New Roman"/>
                <a:cs typeface="Times New Roman"/>
              </a:rPr>
              <a:t> </a:t>
            </a:r>
            <a:r>
              <a:rPr dirty="0" sz="800" spc="80">
                <a:solidFill>
                  <a:srgbClr val="212121"/>
                </a:solidFill>
                <a:latin typeface="Times New Roman"/>
                <a:cs typeface="Times New Roman"/>
              </a:rPr>
              <a:t>rain_test_sp1it(x,</a:t>
            </a:r>
            <a:r>
              <a:rPr dirty="0" sz="800" spc="24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800" spc="80">
                <a:solidFill>
                  <a:srgbClr val="21469A"/>
                </a:solidFill>
                <a:latin typeface="Times New Roman"/>
                <a:cs typeface="Times New Roman"/>
              </a:rPr>
              <a:t>y,</a:t>
            </a:r>
            <a:r>
              <a:rPr dirty="0" sz="800" spc="235">
                <a:solidFill>
                  <a:srgbClr val="21469A"/>
                </a:solidFill>
                <a:latin typeface="Times New Roman"/>
                <a:cs typeface="Times New Roman"/>
              </a:rPr>
              <a:t> </a:t>
            </a:r>
            <a:r>
              <a:rPr dirty="0" sz="800" spc="114">
                <a:solidFill>
                  <a:srgbClr val="4499E2"/>
                </a:solidFill>
                <a:latin typeface="Times New Roman"/>
                <a:cs typeface="Times New Roman"/>
              </a:rPr>
              <a:t>tes</a:t>
            </a:r>
            <a:r>
              <a:rPr dirty="0" sz="800" spc="114">
                <a:solidFill>
                  <a:srgbClr val="212121"/>
                </a:solidFill>
                <a:latin typeface="Times New Roman"/>
                <a:cs typeface="Times New Roman"/>
              </a:rPr>
              <a:t>t_size=</a:t>
            </a:r>
            <a:r>
              <a:rPr dirty="0" sz="800" spc="114">
                <a:solidFill>
                  <a:srgbClr val="008759"/>
                </a:solidFill>
                <a:latin typeface="Times New Roman"/>
                <a:cs typeface="Times New Roman"/>
              </a:rPr>
              <a:t>.</a:t>
            </a:r>
            <a:r>
              <a:rPr dirty="0" sz="800" spc="-114">
                <a:solidFill>
                  <a:srgbClr val="008759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59CDFF"/>
                </a:solidFill>
                <a:latin typeface="Times New Roman"/>
                <a:cs typeface="Times New Roman"/>
              </a:rPr>
              <a:t>2</a:t>
            </a:r>
            <a:r>
              <a:rPr dirty="0" sz="800" spc="240">
                <a:solidFill>
                  <a:srgbClr val="59CDFF"/>
                </a:solidFill>
                <a:latin typeface="Times New Roman"/>
                <a:cs typeface="Times New Roman"/>
              </a:rPr>
              <a:t>  </a:t>
            </a:r>
            <a:r>
              <a:rPr dirty="0" sz="800">
                <a:solidFill>
                  <a:srgbClr val="9A9944"/>
                </a:solidFill>
                <a:latin typeface="Times New Roman"/>
                <a:cs typeface="Times New Roman"/>
              </a:rPr>
              <a:t>ra</a:t>
            </a:r>
            <a:r>
              <a:rPr dirty="0" sz="800" spc="-70">
                <a:solidFill>
                  <a:srgbClr val="9A9944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2D2D2D"/>
                </a:solidFill>
                <a:latin typeface="Times New Roman"/>
                <a:cs typeface="Times New Roman"/>
              </a:rPr>
              <a:t>ndcez_s</a:t>
            </a:r>
            <a:r>
              <a:rPr dirty="0" sz="800" spc="-10">
                <a:solidFill>
                  <a:srgbClr val="4499E2"/>
                </a:solidFill>
                <a:latin typeface="Times New Roman"/>
                <a:cs typeface="Times New Roman"/>
              </a:rPr>
              <a:t>tate=4-</a:t>
            </a:r>
            <a:r>
              <a:rPr dirty="0" sz="800" spc="-25">
                <a:solidFill>
                  <a:srgbClr val="4499E2"/>
                </a:solidFill>
                <a:latin typeface="Times New Roman"/>
                <a:cs typeface="Times New Roman"/>
              </a:rPr>
              <a:t>2)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800">
              <a:latin typeface="Times New Roman"/>
              <a:cs typeface="Times New Roman"/>
            </a:endParaRPr>
          </a:p>
          <a:p>
            <a:pPr marL="16510" marR="3100705" indent="5080">
              <a:lnSpc>
                <a:spcPct val="113300"/>
              </a:lnSpc>
              <a:spcBef>
                <a:spcPts val="5"/>
              </a:spcBef>
            </a:pPr>
            <a:r>
              <a:rPr dirty="0" sz="750">
                <a:solidFill>
                  <a:srgbClr val="3F8080"/>
                </a:solidFill>
                <a:latin typeface="Consolas"/>
                <a:cs typeface="Consolas"/>
              </a:rPr>
              <a:t>#</a:t>
            </a:r>
            <a:r>
              <a:rPr dirty="0" sz="750" spc="-105">
                <a:solidFill>
                  <a:srgbClr val="3F8080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A3E2FF"/>
                </a:solidFill>
                <a:latin typeface="Consolas"/>
                <a:cs typeface="Consolas"/>
              </a:rPr>
              <a:t>Creote</a:t>
            </a:r>
            <a:r>
              <a:rPr dirty="0" sz="750" spc="-95">
                <a:solidFill>
                  <a:srgbClr val="A3E2FF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3FA0CA"/>
                </a:solidFill>
                <a:latin typeface="Consolas"/>
                <a:cs typeface="Consolas"/>
              </a:rPr>
              <a:t>brown</a:t>
            </a:r>
            <a:r>
              <a:rPr dirty="0" sz="750" spc="-15">
                <a:solidFill>
                  <a:srgbClr val="3FA0CA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5EB3E2"/>
                </a:solidFill>
                <a:latin typeface="Consolas"/>
                <a:cs typeface="Consolas"/>
              </a:rPr>
              <a:t>+</a:t>
            </a:r>
            <a:r>
              <a:rPr dirty="0" sz="750" spc="-75">
                <a:solidFill>
                  <a:srgbClr val="5EB3E2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5EB3E2"/>
                </a:solidFill>
                <a:latin typeface="Consolas"/>
                <a:cs typeface="Consolas"/>
              </a:rPr>
              <a:t>teocD</a:t>
            </a:r>
            <a:r>
              <a:rPr dirty="0" sz="750" spc="-25">
                <a:solidFill>
                  <a:srgbClr val="5EB3E2"/>
                </a:solidFill>
                <a:latin typeface="Consolas"/>
                <a:cs typeface="Consolas"/>
              </a:rPr>
              <a:t> </a:t>
            </a:r>
            <a:r>
              <a:rPr dirty="0" sz="750" spc="-25">
                <a:solidFill>
                  <a:srgbClr val="82CAFF"/>
                </a:solidFill>
                <a:latin typeface="Consolas"/>
                <a:cs typeface="Consolas"/>
              </a:rPr>
              <a:t>{t </a:t>
            </a:r>
            <a:r>
              <a:rPr dirty="0" sz="750">
                <a:solidFill>
                  <a:srgbClr val="FFBC6E"/>
                </a:solidFill>
                <a:latin typeface="Consolas"/>
                <a:cs typeface="Consolas"/>
              </a:rPr>
              <a:t>nodel</a:t>
            </a:r>
            <a:r>
              <a:rPr dirty="0" sz="750" spc="-45">
                <a:solidFill>
                  <a:srgbClr val="FFBC6E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8900C1"/>
                </a:solidFill>
                <a:latin typeface="Consolas"/>
                <a:cs typeface="Consolas"/>
              </a:rPr>
              <a:t>=</a:t>
            </a:r>
            <a:r>
              <a:rPr dirty="0" sz="750" spc="-90">
                <a:solidFill>
                  <a:srgbClr val="8900C1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172BF"/>
                </a:solidFill>
                <a:latin typeface="Consolas"/>
                <a:cs typeface="Consolas"/>
              </a:rPr>
              <a:t>LogisticRegression‹) </a:t>
            </a:r>
            <a:r>
              <a:rPr dirty="0" sz="750">
                <a:solidFill>
                  <a:srgbClr val="212121"/>
                </a:solidFill>
                <a:latin typeface="Consolas"/>
                <a:cs typeface="Consolas"/>
              </a:rPr>
              <a:t>nodel.fit</a:t>
            </a:r>
            <a:r>
              <a:rPr dirty="0" sz="750" spc="245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12121"/>
                </a:solidFill>
                <a:latin typeface="Consolas"/>
                <a:cs typeface="Consolas"/>
              </a:rPr>
              <a:t>_train,</a:t>
            </a:r>
            <a:r>
              <a:rPr dirty="0" sz="750" spc="-8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D2D2D"/>
                </a:solidFill>
                <a:latin typeface="Consolas"/>
                <a:cs typeface="Consolas"/>
              </a:rPr>
              <a:t>y_train</a:t>
            </a:r>
            <a:endParaRPr sz="7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7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750">
              <a:latin typeface="Consolas"/>
              <a:cs typeface="Consolas"/>
            </a:endParaRPr>
          </a:p>
          <a:p>
            <a:pPr marL="24130">
              <a:lnSpc>
                <a:spcPct val="100000"/>
              </a:lnSpc>
            </a:pPr>
            <a:r>
              <a:rPr dirty="0" sz="800" spc="65">
                <a:solidFill>
                  <a:srgbClr val="44469A"/>
                </a:solidFill>
                <a:latin typeface="Times New Roman"/>
                <a:cs typeface="Times New Roman"/>
              </a:rPr>
              <a:t>predictions</a:t>
            </a:r>
            <a:r>
              <a:rPr dirty="0" sz="800" spc="240">
                <a:solidFill>
                  <a:srgbClr val="44469A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8900C1"/>
                </a:solidFill>
                <a:latin typeface="Times New Roman"/>
                <a:cs typeface="Times New Roman"/>
              </a:rPr>
              <a:t>=</a:t>
            </a:r>
            <a:r>
              <a:rPr dirty="0" sz="800" spc="200">
                <a:solidFill>
                  <a:srgbClr val="8900C1"/>
                </a:solidFill>
                <a:latin typeface="Times New Roman"/>
                <a:cs typeface="Times New Roman"/>
              </a:rPr>
              <a:t> </a:t>
            </a:r>
            <a:r>
              <a:rPr dirty="0" sz="800" spc="90">
                <a:solidFill>
                  <a:srgbClr val="2D2D2D"/>
                </a:solidFill>
                <a:latin typeface="Times New Roman"/>
                <a:cs typeface="Times New Roman"/>
              </a:rPr>
              <a:t>s&amp;e1.</a:t>
            </a:r>
            <a:r>
              <a:rPr dirty="0" sz="800" spc="-60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800" spc="55">
                <a:solidFill>
                  <a:srgbClr val="0072C8"/>
                </a:solidFill>
                <a:latin typeface="Times New Roman"/>
                <a:cs typeface="Times New Roman"/>
              </a:rPr>
              <a:t>predict</a:t>
            </a:r>
            <a:r>
              <a:rPr dirty="0" sz="800" spc="55">
                <a:solidFill>
                  <a:srgbClr val="212121"/>
                </a:solidFill>
                <a:latin typeface="Times New Roman"/>
                <a:cs typeface="Times New Roman"/>
              </a:rPr>
              <a:t>(Y_test</a:t>
            </a:r>
            <a:r>
              <a:rPr dirty="0" sz="800" spc="55">
                <a:solidFill>
                  <a:srgbClr val="44216E"/>
                </a:solidFill>
                <a:latin typeface="Times New Roman"/>
                <a:cs typeface="Times New Roman"/>
              </a:rPr>
              <a:t>)</a:t>
            </a:r>
            <a:endParaRPr sz="8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solidFill>
                  <a:srgbClr val="4499E2"/>
                </a:solidFill>
                <a:latin typeface="Times New Roman"/>
                <a:cs typeface="Times New Roman"/>
              </a:rPr>
              <a:t>ac</a:t>
            </a:r>
            <a:r>
              <a:rPr dirty="0" sz="800" spc="-114">
                <a:solidFill>
                  <a:srgbClr val="4499E2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6E2121"/>
                </a:solidFill>
                <a:latin typeface="Times New Roman"/>
                <a:cs typeface="Times New Roman"/>
              </a:rPr>
              <a:t>curacy</a:t>
            </a:r>
            <a:r>
              <a:rPr dirty="0" sz="800" spc="415">
                <a:solidFill>
                  <a:srgbClr val="6E212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8900C1"/>
                </a:solidFill>
                <a:latin typeface="Times New Roman"/>
                <a:cs typeface="Times New Roman"/>
              </a:rPr>
              <a:t>=</a:t>
            </a:r>
            <a:r>
              <a:rPr dirty="0" sz="800" spc="375">
                <a:solidFill>
                  <a:srgbClr val="8900C1"/>
                </a:solidFill>
                <a:latin typeface="Times New Roman"/>
                <a:cs typeface="Times New Roman"/>
              </a:rPr>
              <a:t> </a:t>
            </a:r>
            <a:r>
              <a:rPr dirty="0" sz="800" spc="-40">
                <a:solidFill>
                  <a:srgbClr val="6EBCFF"/>
                </a:solidFill>
                <a:latin typeface="Times New Roman"/>
                <a:cs typeface="Times New Roman"/>
              </a:rPr>
              <a:t>a</a:t>
            </a:r>
            <a:r>
              <a:rPr dirty="0" sz="800" spc="-75">
                <a:solidFill>
                  <a:srgbClr val="6EBCFF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212121"/>
                </a:solidFill>
                <a:latin typeface="Times New Roman"/>
                <a:cs typeface="Times New Roman"/>
              </a:rPr>
              <a:t>ccuracj/_sco</a:t>
            </a:r>
            <a:r>
              <a:rPr dirty="0" sz="800" spc="-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9A9944"/>
                </a:solidFill>
                <a:latin typeface="Times New Roman"/>
                <a:cs typeface="Times New Roman"/>
              </a:rPr>
              <a:t>re</a:t>
            </a:r>
            <a:r>
              <a:rPr dirty="0" sz="800">
                <a:solidFill>
                  <a:srgbClr val="212121"/>
                </a:solidFill>
                <a:latin typeface="Times New Roman"/>
                <a:cs typeface="Times New Roman"/>
              </a:rPr>
              <a:t>(y_tes</a:t>
            </a:r>
            <a:r>
              <a:rPr dirty="0" sz="800" spc="25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212121"/>
                </a:solidFill>
                <a:latin typeface="Times New Roman"/>
                <a:cs typeface="Times New Roman"/>
              </a:rPr>
              <a:t>t.</a:t>
            </a:r>
            <a:r>
              <a:rPr dirty="0" sz="800" spc="315">
                <a:solidFill>
                  <a:srgbClr val="212121"/>
                </a:solidFill>
                <a:latin typeface="Times New Roman"/>
                <a:cs typeface="Times New Roman"/>
              </a:rPr>
              <a:t>  </a:t>
            </a:r>
            <a:r>
              <a:rPr dirty="0" sz="800" spc="55">
                <a:solidFill>
                  <a:srgbClr val="4499E2"/>
                </a:solidFill>
                <a:latin typeface="Times New Roman"/>
                <a:cs typeface="Times New Roman"/>
              </a:rPr>
              <a:t>predictions)</a:t>
            </a:r>
            <a:endParaRPr sz="800">
              <a:latin typeface="Times New Roman"/>
              <a:cs typeface="Times New Roman"/>
            </a:endParaRPr>
          </a:p>
          <a:p>
            <a:pPr marL="24130">
              <a:lnSpc>
                <a:spcPts val="860"/>
              </a:lnSpc>
              <a:spcBef>
                <a:spcPts val="110"/>
              </a:spcBef>
              <a:tabLst>
                <a:tab pos="607060" algn="l"/>
                <a:tab pos="1584960" algn="l"/>
              </a:tabLst>
            </a:pPr>
            <a:r>
              <a:rPr dirty="0" sz="750">
                <a:solidFill>
                  <a:srgbClr val="28908C"/>
                </a:solidFill>
                <a:latin typeface="Times New Roman"/>
                <a:cs typeface="Times New Roman"/>
              </a:rPr>
              <a:t>prirrt(-</a:t>
            </a:r>
            <a:r>
              <a:rPr dirty="0" sz="750" spc="-25">
                <a:solidFill>
                  <a:srgbClr val="28908C"/>
                </a:solidFill>
                <a:latin typeface="Times New Roman"/>
                <a:cs typeface="Times New Roman"/>
              </a:rPr>
              <a:t>g”</a:t>
            </a:r>
            <a:r>
              <a:rPr dirty="0" sz="750">
                <a:solidFill>
                  <a:srgbClr val="28908C"/>
                </a:solidFill>
                <a:latin typeface="Times New Roman"/>
                <a:cs typeface="Times New Roman"/>
              </a:rPr>
              <a:t>	</a:t>
            </a:r>
            <a:r>
              <a:rPr dirty="0" sz="750" spc="55">
                <a:solidFill>
                  <a:srgbClr val="E8B1A7"/>
                </a:solidFill>
                <a:latin typeface="Times New Roman"/>
                <a:cs typeface="Times New Roman"/>
              </a:rPr>
              <a:t>OR</a:t>
            </a:r>
            <a:r>
              <a:rPr dirty="0" sz="750" spc="250">
                <a:solidFill>
                  <a:srgbClr val="E8B1A7"/>
                </a:solidFill>
                <a:latin typeface="Times New Roman"/>
                <a:cs typeface="Times New Roman"/>
              </a:rPr>
              <a:t>  </a:t>
            </a:r>
            <a:r>
              <a:rPr dirty="0" sz="750">
                <a:solidFill>
                  <a:srgbClr val="B82B97"/>
                </a:solidFill>
                <a:latin typeface="Times New Roman"/>
                <a:cs typeface="Times New Roman"/>
              </a:rPr>
              <a:t>TEL</a:t>
            </a:r>
            <a:r>
              <a:rPr dirty="0" sz="750" spc="285">
                <a:solidFill>
                  <a:srgbClr val="B82B97"/>
                </a:solidFill>
                <a:latin typeface="Times New Roman"/>
                <a:cs typeface="Times New Roman"/>
              </a:rPr>
              <a:t>  </a:t>
            </a:r>
            <a:r>
              <a:rPr dirty="0" sz="750" spc="-20">
                <a:solidFill>
                  <a:srgbClr val="892BBA"/>
                </a:solidFill>
                <a:latin typeface="Times New Roman"/>
                <a:cs typeface="Times New Roman"/>
              </a:rPr>
              <a:t>A€CU</a:t>
            </a:r>
            <a:r>
              <a:rPr dirty="0" sz="750">
                <a:solidFill>
                  <a:srgbClr val="892BBA"/>
                </a:solidFill>
                <a:latin typeface="Times New Roman"/>
                <a:cs typeface="Times New Roman"/>
              </a:rPr>
              <a:t>	</a:t>
            </a:r>
            <a:r>
              <a:rPr dirty="0" sz="750" spc="10">
                <a:solidFill>
                  <a:srgbClr val="892BBA"/>
                </a:solidFill>
                <a:latin typeface="Times New Roman"/>
                <a:cs typeface="Times New Roman"/>
              </a:rPr>
              <a:t>:</a:t>
            </a:r>
            <a:r>
              <a:rPr dirty="0" sz="750" spc="375">
                <a:solidFill>
                  <a:srgbClr val="892BBA"/>
                </a:solidFill>
                <a:latin typeface="Times New Roman"/>
                <a:cs typeface="Times New Roman"/>
              </a:rPr>
              <a:t> </a:t>
            </a:r>
            <a:r>
              <a:rPr dirty="0" sz="750" spc="60">
                <a:solidFill>
                  <a:srgbClr val="E8C389"/>
                </a:solidFill>
                <a:latin typeface="Times New Roman"/>
                <a:cs typeface="Times New Roman"/>
              </a:rPr>
              <a:t>{accuracy</a:t>
            </a:r>
            <a:r>
              <a:rPr dirty="0" sz="750" spc="-45">
                <a:solidFill>
                  <a:srgbClr val="E8C389"/>
                </a:solidFill>
                <a:latin typeface="Times New Roman"/>
                <a:cs typeface="Times New Roman"/>
              </a:rPr>
              <a:t> </a:t>
            </a:r>
            <a:r>
              <a:rPr dirty="0" sz="750" spc="10">
                <a:solidFill>
                  <a:srgbClr val="4499E2"/>
                </a:solidFill>
                <a:latin typeface="Times New Roman"/>
                <a:cs typeface="Times New Roman"/>
              </a:rPr>
              <a:t>:</a:t>
            </a:r>
            <a:r>
              <a:rPr dirty="0" sz="750" spc="-60">
                <a:solidFill>
                  <a:srgbClr val="4499E2"/>
                </a:solidFill>
                <a:latin typeface="Times New Roman"/>
                <a:cs typeface="Times New Roman"/>
              </a:rPr>
              <a:t> </a:t>
            </a:r>
            <a:r>
              <a:rPr dirty="0" sz="750" spc="75">
                <a:solidFill>
                  <a:srgbClr val="008000"/>
                </a:solidFill>
                <a:latin typeface="Times New Roman"/>
                <a:cs typeface="Times New Roman"/>
              </a:rPr>
              <a:t>.W}</a:t>
            </a:r>
            <a:r>
              <a:rPr dirty="0" sz="750" spc="35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z="750" spc="55">
                <a:solidFill>
                  <a:srgbClr val="B8DBFF"/>
                </a:solidFill>
                <a:latin typeface="Times New Roman"/>
                <a:cs typeface="Times New Roman"/>
              </a:rPr>
              <a:t>‹{accuracy”1@</a:t>
            </a:r>
            <a:r>
              <a:rPr dirty="0" sz="750" spc="5">
                <a:solidFill>
                  <a:srgbClr val="B8DBFF"/>
                </a:solidFill>
                <a:latin typeface="Times New Roman"/>
                <a:cs typeface="Times New Roman"/>
              </a:rPr>
              <a:t> </a:t>
            </a:r>
            <a:r>
              <a:rPr dirty="0" sz="750" spc="10">
                <a:solidFill>
                  <a:srgbClr val="4499E2"/>
                </a:solidFill>
                <a:latin typeface="Times New Roman"/>
                <a:cs typeface="Times New Roman"/>
              </a:rPr>
              <a:t>:</a:t>
            </a:r>
            <a:r>
              <a:rPr dirty="0" sz="750" spc="-55">
                <a:solidFill>
                  <a:srgbClr val="4499E2"/>
                </a:solidFill>
                <a:latin typeface="Times New Roman"/>
                <a:cs typeface="Times New Roman"/>
              </a:rPr>
              <a:t> </a:t>
            </a:r>
            <a:r>
              <a:rPr dirty="0" sz="750" spc="10">
                <a:solidFill>
                  <a:srgbClr val="008000"/>
                </a:solidFill>
                <a:latin typeface="Times New Roman"/>
                <a:cs typeface="Times New Roman"/>
              </a:rPr>
              <a:t>.@-F/}</a:t>
            </a:r>
            <a:r>
              <a:rPr dirty="0" sz="750" spc="-95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z="750" spc="-50">
                <a:solidFill>
                  <a:srgbClr val="B8DBFF"/>
                </a:solidFill>
                <a:latin typeface="Times New Roman"/>
                <a:cs typeface="Times New Roman"/>
              </a:rPr>
              <a:t>”</a:t>
            </a:r>
            <a:endParaRPr sz="750">
              <a:latin typeface="Times New Roman"/>
              <a:cs typeface="Times New Roman"/>
            </a:endParaRPr>
          </a:p>
          <a:p>
            <a:pPr marL="17145">
              <a:lnSpc>
                <a:spcPts val="1100"/>
              </a:lnSpc>
              <a:tabLst>
                <a:tab pos="625475" algn="l"/>
                <a:tab pos="942975" algn="l"/>
              </a:tabLst>
            </a:pPr>
            <a:r>
              <a:rPr dirty="0" sz="950" spc="-10">
                <a:solidFill>
                  <a:srgbClr val="28908C"/>
                </a:solidFill>
                <a:latin typeface="Consolas"/>
                <a:cs typeface="Consolas"/>
              </a:rPr>
              <a:t>erint(’\«</a:t>
            </a:r>
            <a:r>
              <a:rPr dirty="0" sz="950">
                <a:solidFill>
                  <a:srgbClr val="28908C"/>
                </a:solidFill>
                <a:latin typeface="Consolas"/>
                <a:cs typeface="Consolas"/>
              </a:rPr>
              <a:t>	</a:t>
            </a:r>
            <a:r>
              <a:rPr dirty="0" sz="950" spc="-25">
                <a:solidFill>
                  <a:srgbClr val="28908C"/>
                </a:solidFill>
                <a:latin typeface="Consolas"/>
                <a:cs typeface="Consolas"/>
              </a:rPr>
              <a:t>aim</a:t>
            </a:r>
            <a:r>
              <a:rPr dirty="0" sz="950">
                <a:solidFill>
                  <a:srgbClr val="28908C"/>
                </a:solidFill>
                <a:latin typeface="Consolas"/>
                <a:cs typeface="Consolas"/>
              </a:rPr>
              <a:t>	</a:t>
            </a:r>
            <a:r>
              <a:rPr dirty="0" sz="950" spc="-40">
                <a:solidFill>
                  <a:srgbClr val="C8BCFF"/>
                </a:solidFill>
                <a:latin typeface="Consolas"/>
                <a:cs typeface="Consolas"/>
              </a:rPr>
              <a:t>#eeort:’)</a:t>
            </a:r>
            <a:endParaRPr sz="950">
              <a:latin typeface="Consolas"/>
              <a:cs typeface="Consolas"/>
            </a:endParaRPr>
          </a:p>
          <a:p>
            <a:pPr marL="16510">
              <a:lnSpc>
                <a:spcPct val="100000"/>
              </a:lnSpc>
              <a:spcBef>
                <a:spcPts val="80"/>
              </a:spcBef>
            </a:pPr>
            <a:r>
              <a:rPr dirty="0" sz="750" spc="-25">
                <a:solidFill>
                  <a:srgbClr val="212121"/>
                </a:solidFill>
                <a:latin typeface="Consolas"/>
                <a:cs typeface="Consolas"/>
              </a:rPr>
              <a:t>print(classification_report(y_test,</a:t>
            </a:r>
            <a:r>
              <a:rPr dirty="0" sz="750" spc="19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44469A"/>
                </a:solidFill>
                <a:latin typeface="Consolas"/>
                <a:cs typeface="Consolas"/>
              </a:rPr>
              <a:t>predictions))</a:t>
            </a:r>
            <a:endParaRPr sz="7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750">
              <a:latin typeface="Consolas"/>
              <a:cs typeface="Consolas"/>
            </a:endParaRPr>
          </a:p>
          <a:p>
            <a:pPr marL="194310">
              <a:lnSpc>
                <a:spcPct val="100000"/>
              </a:lnSpc>
              <a:spcBef>
                <a:spcPts val="5"/>
              </a:spcBef>
            </a:pPr>
            <a:r>
              <a:rPr dirty="0" sz="800" spc="-80">
                <a:solidFill>
                  <a:srgbClr val="9ADFFF"/>
                </a:solidFill>
                <a:latin typeface="Courier New"/>
                <a:cs typeface="Courier New"/>
              </a:rPr>
              <a:t>YDUR</a:t>
            </a:r>
            <a:r>
              <a:rPr dirty="0" sz="800" spc="5">
                <a:solidFill>
                  <a:srgbClr val="9ADFFF"/>
                </a:solidFill>
                <a:latin typeface="Courier New"/>
                <a:cs typeface="Courier New"/>
              </a:rPr>
              <a:t> </a:t>
            </a:r>
            <a:r>
              <a:rPr dirty="0" sz="800" spc="-95">
                <a:solidFill>
                  <a:srgbClr val="FFBC6E"/>
                </a:solidFill>
                <a:latin typeface="Courier New"/>
                <a:cs typeface="Courier New"/>
              </a:rPr>
              <a:t>MODEL</a:t>
            </a:r>
            <a:r>
              <a:rPr dirty="0" sz="800" spc="-15">
                <a:solidFill>
                  <a:srgbClr val="FFBC6E"/>
                </a:solidFill>
                <a:latin typeface="Courier New"/>
                <a:cs typeface="Courier New"/>
              </a:rPr>
              <a:t> </a:t>
            </a:r>
            <a:r>
              <a:rPr dirty="0" sz="800" spc="-95">
                <a:solidFill>
                  <a:srgbClr val="6EBCFF"/>
                </a:solidFill>
                <a:latin typeface="Courier New"/>
                <a:cs typeface="Courier New"/>
              </a:rPr>
              <a:t>ACCURACY:</a:t>
            </a:r>
            <a:r>
              <a:rPr dirty="0" sz="800" spc="-60">
                <a:solidFill>
                  <a:srgbClr val="6EBCFF"/>
                </a:solidFill>
                <a:latin typeface="Courier New"/>
                <a:cs typeface="Courier New"/>
              </a:rPr>
              <a:t> </a:t>
            </a:r>
            <a:r>
              <a:rPr dirty="0" sz="800" spc="-75">
                <a:solidFill>
                  <a:srgbClr val="2D2D2D"/>
                </a:solidFill>
                <a:latin typeface="Courier New"/>
                <a:cs typeface="Courier New"/>
              </a:rPr>
              <a:t>86.735</a:t>
            </a:r>
            <a:r>
              <a:rPr dirty="0" sz="800" spc="-30">
                <a:solidFill>
                  <a:srgbClr val="2D2D2D"/>
                </a:solidFill>
                <a:latin typeface="Courier New"/>
                <a:cs typeface="Courier New"/>
              </a:rPr>
              <a:t> </a:t>
            </a:r>
            <a:r>
              <a:rPr dirty="0" sz="800" spc="-20">
                <a:solidFill>
                  <a:srgbClr val="9ADFFF"/>
                </a:solidFill>
                <a:latin typeface="Courier New"/>
                <a:cs typeface="Courier New"/>
              </a:rPr>
              <a:t>‹B7B)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82150" y="3844290"/>
            <a:ext cx="1191895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930"/>
              </a:lnSpc>
              <a:spcBef>
                <a:spcPts val="100"/>
              </a:spcBef>
            </a:pPr>
            <a:r>
              <a:rPr dirty="0" sz="800" spc="-85">
                <a:solidFill>
                  <a:srgbClr val="4499E2"/>
                </a:solidFill>
                <a:latin typeface="Courier New"/>
                <a:cs typeface="Courier New"/>
              </a:rPr>
              <a:t>Detailed</a:t>
            </a:r>
            <a:r>
              <a:rPr dirty="0" sz="800" spc="15">
                <a:solidFill>
                  <a:srgbClr val="4499E2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2D2D2D"/>
                </a:solidFill>
                <a:latin typeface="Courier New"/>
                <a:cs typeface="Courier New"/>
              </a:rPr>
              <a:t>Report:</a:t>
            </a:r>
            <a:endParaRPr sz="800">
              <a:latin typeface="Courier New"/>
              <a:cs typeface="Courier New"/>
            </a:endParaRPr>
          </a:p>
          <a:p>
            <a:pPr marL="734060">
              <a:lnSpc>
                <a:spcPts val="930"/>
              </a:lnSpc>
            </a:pPr>
            <a:r>
              <a:rPr dirty="0" sz="800" spc="-80">
                <a:solidFill>
                  <a:srgbClr val="4499E2"/>
                </a:solidFill>
                <a:latin typeface="Courier New"/>
                <a:cs typeface="Courier New"/>
              </a:rPr>
              <a:t>precision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60726" y="3958590"/>
            <a:ext cx="3295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5">
                <a:solidFill>
                  <a:srgbClr val="2172BF"/>
                </a:solidFill>
                <a:latin typeface="Courier New"/>
                <a:cs typeface="Courier New"/>
              </a:rPr>
              <a:t>recall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962403" y="3958590"/>
            <a:ext cx="43560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90">
                <a:solidFill>
                  <a:srgbClr val="212121"/>
                </a:solidFill>
                <a:latin typeface="Courier New"/>
                <a:cs typeface="Courier New"/>
              </a:rPr>
              <a:t>fl-</a:t>
            </a:r>
            <a:r>
              <a:rPr dirty="0" sz="800" spc="-65">
                <a:solidFill>
                  <a:srgbClr val="212121"/>
                </a:solidFill>
                <a:latin typeface="Courier New"/>
                <a:cs typeface="Courier New"/>
              </a:rPr>
              <a:t>score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526680" y="3958590"/>
            <a:ext cx="3841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solidFill>
                  <a:srgbClr val="9ADFFF"/>
                </a:solidFill>
                <a:latin typeface="Courier New"/>
                <a:cs typeface="Courier New"/>
              </a:rPr>
              <a:t>support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745237" y="4324350"/>
            <a:ext cx="692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2172BF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155101" y="4324350"/>
            <a:ext cx="1638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5">
                <a:solidFill>
                  <a:srgbClr val="44216E"/>
                </a:solidFill>
                <a:latin typeface="Calibri"/>
                <a:cs typeface="Calibri"/>
              </a:rPr>
              <a:t>g.@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89033" y="4574540"/>
            <a:ext cx="42799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5">
                <a:solidFill>
                  <a:srgbClr val="4499E2"/>
                </a:solidFill>
                <a:latin typeface="Courier New"/>
                <a:cs typeface="Courier New"/>
              </a:rPr>
              <a:t>accuracy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175784" y="4568190"/>
            <a:ext cx="2279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44216E"/>
                </a:solidFill>
                <a:latin typeface="Times New Roman"/>
                <a:cs typeface="Times New Roman"/>
              </a:rPr>
              <a:t>g.B7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781097" y="4324350"/>
            <a:ext cx="1365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21469A"/>
                </a:solidFill>
                <a:latin typeface="Courier New"/>
                <a:cs typeface="Courier New"/>
              </a:rPr>
              <a:t>)9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735853" y="4566919"/>
            <a:ext cx="184150" cy="39116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750" spc="-25">
                <a:solidFill>
                  <a:srgbClr val="6EBCFF"/>
                </a:solidFill>
                <a:latin typeface="Consolas"/>
                <a:cs typeface="Consolas"/>
              </a:rPr>
              <a:t>294</a:t>
            </a:r>
            <a:endParaRPr sz="7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25">
                <a:solidFill>
                  <a:srgbClr val="6EBCFF"/>
                </a:solidFill>
                <a:latin typeface="Consolas"/>
                <a:cs typeface="Consolas"/>
              </a:rPr>
              <a:t>294</a:t>
            </a:r>
            <a:endParaRPr sz="7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750" spc="-25">
                <a:solidFill>
                  <a:srgbClr val="6EBCFF"/>
                </a:solidFill>
                <a:latin typeface="Consolas"/>
                <a:cs typeface="Consolas"/>
              </a:rPr>
              <a:t>294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185711" y="5100320"/>
            <a:ext cx="4318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C:&amp;Users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051229" y="4690109"/>
            <a:ext cx="1092835" cy="54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44216E"/>
                </a:solidFill>
                <a:latin typeface="Courier New"/>
                <a:cs typeface="Courier New"/>
              </a:rPr>
              <a:t>0.43</a:t>
            </a:r>
            <a:endParaRPr sz="80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tabLst>
                <a:tab pos="626110" algn="l"/>
              </a:tabLst>
            </a:pPr>
            <a:r>
              <a:rPr dirty="0" sz="750">
                <a:solidFill>
                  <a:srgbClr val="44216E"/>
                </a:solidFill>
                <a:latin typeface="Times New Roman"/>
                <a:cs typeface="Times New Roman"/>
              </a:rPr>
              <a:t>g</a:t>
            </a:r>
            <a:r>
              <a:rPr dirty="0" sz="750" spc="-60">
                <a:solidFill>
                  <a:srgbClr val="44216E"/>
                </a:solidFill>
                <a:latin typeface="Times New Roman"/>
                <a:cs typeface="Times New Roman"/>
              </a:rPr>
              <a:t> </a:t>
            </a:r>
            <a:r>
              <a:rPr dirty="0" sz="750">
                <a:solidFill>
                  <a:srgbClr val="21216E"/>
                </a:solidFill>
                <a:latin typeface="Times New Roman"/>
                <a:cs typeface="Times New Roman"/>
              </a:rPr>
              <a:t>.</a:t>
            </a:r>
            <a:r>
              <a:rPr dirty="0" sz="750" spc="-50">
                <a:solidFill>
                  <a:srgbClr val="21216E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21469A"/>
                </a:solidFill>
                <a:latin typeface="Times New Roman"/>
                <a:cs typeface="Times New Roman"/>
              </a:rPr>
              <a:t>75</a:t>
            </a:r>
            <a:r>
              <a:rPr dirty="0" sz="750">
                <a:solidFill>
                  <a:srgbClr val="21469A"/>
                </a:solidFill>
                <a:latin typeface="Times New Roman"/>
                <a:cs typeface="Times New Roman"/>
              </a:rPr>
              <a:t>	</a:t>
            </a:r>
            <a:r>
              <a:rPr dirty="0" sz="800" spc="-20">
                <a:solidFill>
                  <a:srgbClr val="44216E"/>
                </a:solidFill>
                <a:latin typeface="Times New Roman"/>
                <a:cs typeface="Times New Roman"/>
              </a:rPr>
              <a:t>g.B7</a:t>
            </a:r>
            <a:endParaRPr sz="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poata&amp;Local</a:t>
            </a:r>
            <a:r>
              <a:rPr dirty="0" sz="750" spc="16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rogramb&amp;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78049" y="5100320"/>
            <a:ext cx="44684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04720" algn="l"/>
              </a:tabLst>
            </a:pP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non</a:t>
            </a:r>
            <a:r>
              <a:rPr dirty="0" sz="750" spc="39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ytuon)&amp;</a:t>
            </a:r>
            <a:r>
              <a:rPr dirty="0" sz="750" spc="45">
                <a:solidFill>
                  <a:srgbClr val="1D1D1D"/>
                </a:solidFill>
                <a:latin typeface="Consolas"/>
                <a:cs typeface="Consolas"/>
              </a:rPr>
              <a:t> 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Liotite-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paceagesswearn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	rice</a:t>
            </a:r>
            <a:r>
              <a:rPr dirty="0" sz="750" spc="60">
                <a:solidFill>
                  <a:srgbClr val="1D1D1D"/>
                </a:solidFill>
                <a:latin typeface="Consolas"/>
                <a:cs typeface="Consolas"/>
              </a:rPr>
              <a:t> 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cwssification</a:t>
            </a:r>
            <a:r>
              <a:rPr dirty="0" sz="750" spc="434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y:&amp;833:unne+iue</a:t>
            </a:r>
            <a:r>
              <a:rPr dirty="0" sz="750" spc="15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Petri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820824" y="5100320"/>
            <a:ext cx="10325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>
                <a:solidFill>
                  <a:srgbClr val="1D1D1D"/>
                </a:solidFill>
                <a:latin typeface="Consolas"/>
                <a:cs typeface="Consolas"/>
              </a:rPr>
              <a:t>arning:</a:t>
            </a:r>
            <a:r>
              <a:rPr dirty="0" sz="750" spc="-4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6E1C60"/>
                </a:solidFill>
                <a:latin typeface="Consolas"/>
                <a:cs typeface="Consolas"/>
              </a:rPr>
              <a:t>Precisionis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81990" y="5222240"/>
            <a:ext cx="64033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30">
                <a:solidFill>
                  <a:srgbClr val="443D85"/>
                </a:solidFill>
                <a:latin typeface="Consolas"/>
                <a:cs typeface="Consolas"/>
              </a:rPr>
              <a:t>ill-</a:t>
            </a:r>
            <a:r>
              <a:rPr dirty="0" sz="750" spc="-10">
                <a:solidFill>
                  <a:srgbClr val="443D85"/>
                </a:solidFill>
                <a:latin typeface="Consolas"/>
                <a:cs typeface="Consolas"/>
              </a:rPr>
              <a:t>deFiued</a:t>
            </a:r>
            <a:r>
              <a:rPr dirty="0" sz="750" spc="-5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2162A5"/>
                </a:solidFill>
                <a:latin typeface="Consolas"/>
                <a:cs typeface="Consolas"/>
              </a:rPr>
              <a:t>and</a:t>
            </a:r>
            <a:r>
              <a:rPr dirty="0" sz="750" spc="-105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6E1C60"/>
                </a:solidFill>
                <a:latin typeface="Consolas"/>
                <a:cs typeface="Consolas"/>
              </a:rPr>
              <a:t>being</a:t>
            </a:r>
            <a:r>
              <a:rPr dirty="0" sz="750" spc="-40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A3DD"/>
                </a:solidFill>
                <a:latin typeface="Consolas"/>
                <a:cs typeface="Consolas"/>
              </a:rPr>
              <a:t>set</a:t>
            </a:r>
            <a:r>
              <a:rPr dirty="0" sz="750" spc="-65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to</a:t>
            </a:r>
            <a:r>
              <a:rPr dirty="0" sz="750" spc="-80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1C60"/>
                </a:solidFill>
                <a:latin typeface="Consolas"/>
                <a:cs typeface="Consolas"/>
              </a:rPr>
              <a:t>B.0</a:t>
            </a:r>
            <a:r>
              <a:rPr dirty="0" sz="750" spc="-75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in</a:t>
            </a:r>
            <a:r>
              <a:rPr dirty="0" sz="750" spc="-114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labels</a:t>
            </a:r>
            <a:r>
              <a:rPr dirty="0" sz="750" spc="30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9A6285"/>
                </a:solidFill>
                <a:latin typeface="Consolas"/>
                <a:cs typeface="Consolas"/>
              </a:rPr>
              <a:t>with</a:t>
            </a:r>
            <a:r>
              <a:rPr dirty="0" sz="750" spc="-25">
                <a:solidFill>
                  <a:srgbClr val="9A62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A3DD"/>
                </a:solidFill>
                <a:latin typeface="Consolas"/>
                <a:cs typeface="Consolas"/>
              </a:rPr>
              <a:t>uo</a:t>
            </a:r>
            <a:r>
              <a:rPr dirty="0" sz="750" spc="-10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6EA3DD"/>
                </a:solidFill>
                <a:latin typeface="Consolas"/>
                <a:cs typeface="Consolas"/>
              </a:rPr>
              <a:t>predicted</a:t>
            </a:r>
            <a:r>
              <a:rPr dirty="0" sz="750" spc="-5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82828"/>
                </a:solidFill>
                <a:latin typeface="Consolas"/>
                <a:cs typeface="Consolas"/>
              </a:rPr>
              <a:t>samples.</a:t>
            </a:r>
            <a:r>
              <a:rPr dirty="0" sz="750" spc="15">
                <a:solidFill>
                  <a:srgbClr val="282828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Use</a:t>
            </a:r>
            <a:r>
              <a:rPr dirty="0" sz="750" spc="-45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9AC1DD"/>
                </a:solidFill>
                <a:latin typeface="Consolas"/>
                <a:cs typeface="Consolas"/>
              </a:rPr>
              <a:t>’zero_divisiou’</a:t>
            </a:r>
            <a:r>
              <a:rPr dirty="0" sz="750" spc="-25">
                <a:solidFill>
                  <a:srgbClr val="9AC1D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paraeter</a:t>
            </a:r>
            <a:r>
              <a:rPr dirty="0" sz="750" spc="-15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2162A5"/>
                </a:solidFill>
                <a:latin typeface="Consolas"/>
                <a:cs typeface="Consolas"/>
              </a:rPr>
              <a:t>to</a:t>
            </a:r>
            <a:r>
              <a:rPr dirty="0" sz="750" spc="-20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 spc="-75">
                <a:solidFill>
                  <a:srgbClr val="4485C3"/>
                </a:solidFill>
                <a:latin typeface="Consolas"/>
                <a:cs typeface="Consolas"/>
              </a:rPr>
              <a:t>c‹nrtrol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9AC1DD"/>
                </a:solidFill>
                <a:latin typeface="Consolas"/>
                <a:cs typeface="Consolas"/>
              </a:rPr>
              <a:t>this</a:t>
            </a:r>
            <a:r>
              <a:rPr dirty="0" sz="750" spc="-30">
                <a:solidFill>
                  <a:srgbClr val="9AC1D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4485C3"/>
                </a:solidFill>
                <a:latin typeface="Consolas"/>
                <a:cs typeface="Consolas"/>
              </a:rPr>
              <a:t>behavior.</a:t>
            </a:r>
            <a:endParaRPr sz="750">
              <a:latin typeface="Consolas"/>
              <a:cs typeface="Consolas"/>
            </a:endParaRPr>
          </a:p>
          <a:p>
            <a:pPr marL="119380">
              <a:lnSpc>
                <a:spcPct val="100000"/>
              </a:lnSpc>
            </a:pP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_warn</a:t>
            </a:r>
            <a:r>
              <a:rPr dirty="0" sz="750" spc="39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1D1D1D"/>
                </a:solidFill>
                <a:latin typeface="Consolas"/>
                <a:cs typeface="Consolas"/>
              </a:rPr>
              <a:t>rC(average.</a:t>
            </a:r>
            <a:r>
              <a:rPr dirty="0" sz="750" spc="-3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modifier.</a:t>
            </a:r>
            <a:r>
              <a:rPr dirty="0" sz="750" spc="-2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25">
                <a:solidFill>
                  <a:srgbClr val="2162A5"/>
                </a:solidFill>
                <a:latin typeface="Consolas"/>
                <a:cs typeface="Consolas"/>
              </a:rPr>
              <a:t>f’(metric.capitalize()}</a:t>
            </a:r>
            <a:r>
              <a:rPr dirty="0" sz="750" spc="-65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1C60"/>
                </a:solidFill>
                <a:latin typeface="Consolas"/>
                <a:cs typeface="Consolas"/>
              </a:rPr>
              <a:t>is’,</a:t>
            </a:r>
            <a:r>
              <a:rPr dirty="0" sz="750" spc="-65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162A5"/>
                </a:solidFill>
                <a:latin typeface="Consolas"/>
                <a:cs typeface="Consolas"/>
              </a:rPr>
              <a:t>result.shape[0])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81990" y="5450840"/>
            <a:ext cx="65646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">
              <a:lnSpc>
                <a:spcPct val="106700"/>
              </a:lnSpc>
              <a:spcBef>
                <a:spcPts val="100"/>
              </a:spcBef>
              <a:tabLst>
                <a:tab pos="881380" algn="l"/>
                <a:tab pos="2108200" algn="l"/>
                <a:tab pos="4300855" algn="l"/>
              </a:tabLst>
            </a:pP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C:&amp;Users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	poata&amp;Local</a:t>
            </a:r>
            <a:r>
              <a:rPr dirty="0" sz="750" spc="16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rogramb&amp;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	non</a:t>
            </a:r>
            <a:r>
              <a:rPr dirty="0" sz="750" spc="39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ytuon)&amp;</a:t>
            </a:r>
            <a:r>
              <a:rPr dirty="0" sz="750" spc="45">
                <a:solidFill>
                  <a:srgbClr val="1D1D1D"/>
                </a:solidFill>
                <a:latin typeface="Consolas"/>
                <a:cs typeface="Consolas"/>
              </a:rPr>
              <a:t> 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Liotite-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paceagesswearn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	rice</a:t>
            </a:r>
            <a:r>
              <a:rPr dirty="0" sz="750" spc="60">
                <a:solidFill>
                  <a:srgbClr val="1D1D1D"/>
                </a:solidFill>
                <a:latin typeface="Consolas"/>
                <a:cs typeface="Consolas"/>
              </a:rPr>
              <a:t> 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cwssification</a:t>
            </a:r>
            <a:r>
              <a:rPr dirty="0" sz="750" spc="434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y:&amp;833:unne+iue</a:t>
            </a:r>
            <a:r>
              <a:rPr dirty="0" sz="750" spc="15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Petri </a:t>
            </a:r>
            <a:r>
              <a:rPr dirty="0" sz="750" spc="-30">
                <a:solidFill>
                  <a:srgbClr val="443D85"/>
                </a:solidFill>
                <a:latin typeface="Consolas"/>
                <a:cs typeface="Consolas"/>
              </a:rPr>
              <a:t>ill-</a:t>
            </a:r>
            <a:r>
              <a:rPr dirty="0" sz="750" spc="-10">
                <a:solidFill>
                  <a:srgbClr val="443D85"/>
                </a:solidFill>
                <a:latin typeface="Consolas"/>
                <a:cs typeface="Consolas"/>
              </a:rPr>
              <a:t>deFiued</a:t>
            </a:r>
            <a:r>
              <a:rPr dirty="0" sz="750" spc="-5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2162A5"/>
                </a:solidFill>
                <a:latin typeface="Consolas"/>
                <a:cs typeface="Consolas"/>
              </a:rPr>
              <a:t>and</a:t>
            </a:r>
            <a:r>
              <a:rPr dirty="0" sz="750" spc="-105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6E1C60"/>
                </a:solidFill>
                <a:latin typeface="Consolas"/>
                <a:cs typeface="Consolas"/>
              </a:rPr>
              <a:t>being</a:t>
            </a:r>
            <a:r>
              <a:rPr dirty="0" sz="750" spc="-40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A3DD"/>
                </a:solidFill>
                <a:latin typeface="Consolas"/>
                <a:cs typeface="Consolas"/>
              </a:rPr>
              <a:t>set</a:t>
            </a:r>
            <a:r>
              <a:rPr dirty="0" sz="750" spc="-65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to</a:t>
            </a:r>
            <a:r>
              <a:rPr dirty="0" sz="750" spc="-80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1C60"/>
                </a:solidFill>
                <a:latin typeface="Consolas"/>
                <a:cs typeface="Consolas"/>
              </a:rPr>
              <a:t>B.0</a:t>
            </a:r>
            <a:r>
              <a:rPr dirty="0" sz="750" spc="-75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in</a:t>
            </a:r>
            <a:r>
              <a:rPr dirty="0" sz="750" spc="-114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labels</a:t>
            </a:r>
            <a:r>
              <a:rPr dirty="0" sz="750" spc="30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9A6285"/>
                </a:solidFill>
                <a:latin typeface="Consolas"/>
                <a:cs typeface="Consolas"/>
              </a:rPr>
              <a:t>with</a:t>
            </a:r>
            <a:r>
              <a:rPr dirty="0" sz="750" spc="-25">
                <a:solidFill>
                  <a:srgbClr val="9A62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A3DD"/>
                </a:solidFill>
                <a:latin typeface="Consolas"/>
                <a:cs typeface="Consolas"/>
              </a:rPr>
              <a:t>uo</a:t>
            </a:r>
            <a:r>
              <a:rPr dirty="0" sz="750" spc="-10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6EA3DD"/>
                </a:solidFill>
                <a:latin typeface="Consolas"/>
                <a:cs typeface="Consolas"/>
              </a:rPr>
              <a:t>predicted</a:t>
            </a:r>
            <a:r>
              <a:rPr dirty="0" sz="750" spc="-5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82828"/>
                </a:solidFill>
                <a:latin typeface="Consolas"/>
                <a:cs typeface="Consolas"/>
              </a:rPr>
              <a:t>samples.</a:t>
            </a:r>
            <a:r>
              <a:rPr dirty="0" sz="750" spc="15">
                <a:solidFill>
                  <a:srgbClr val="282828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Use</a:t>
            </a:r>
            <a:r>
              <a:rPr dirty="0" sz="750" spc="-45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9AC1DD"/>
                </a:solidFill>
                <a:latin typeface="Consolas"/>
                <a:cs typeface="Consolas"/>
              </a:rPr>
              <a:t>’zero_divisiou’</a:t>
            </a:r>
            <a:r>
              <a:rPr dirty="0" sz="750" spc="-25">
                <a:solidFill>
                  <a:srgbClr val="9AC1D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paraeter</a:t>
            </a:r>
            <a:r>
              <a:rPr dirty="0" sz="750" spc="-15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2162A5"/>
                </a:solidFill>
                <a:latin typeface="Consolas"/>
                <a:cs typeface="Consolas"/>
              </a:rPr>
              <a:t>to</a:t>
            </a:r>
            <a:r>
              <a:rPr dirty="0" sz="750" spc="-20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 spc="-75">
                <a:solidFill>
                  <a:srgbClr val="4485C3"/>
                </a:solidFill>
                <a:latin typeface="Consolas"/>
                <a:cs typeface="Consolas"/>
              </a:rPr>
              <a:t>c‹nrtrol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9AC1DD"/>
                </a:solidFill>
                <a:latin typeface="Consolas"/>
                <a:cs typeface="Consolas"/>
              </a:rPr>
              <a:t>this</a:t>
            </a:r>
            <a:r>
              <a:rPr dirty="0" sz="750" spc="-30">
                <a:solidFill>
                  <a:srgbClr val="9AC1D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4485C3"/>
                </a:solidFill>
                <a:latin typeface="Consolas"/>
                <a:cs typeface="Consolas"/>
              </a:rPr>
              <a:t>behavior.</a:t>
            </a:r>
            <a:endParaRPr sz="750">
              <a:latin typeface="Consolas"/>
              <a:cs typeface="Consolas"/>
            </a:endParaRPr>
          </a:p>
          <a:p>
            <a:pPr marL="119380"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_warn</a:t>
            </a:r>
            <a:r>
              <a:rPr dirty="0" sz="750" spc="39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1D1D1D"/>
                </a:solidFill>
                <a:latin typeface="Consolas"/>
                <a:cs typeface="Consolas"/>
              </a:rPr>
              <a:t>rC(average.</a:t>
            </a:r>
            <a:r>
              <a:rPr dirty="0" sz="750" spc="-3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modifier.</a:t>
            </a:r>
            <a:r>
              <a:rPr dirty="0" sz="750" spc="-2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25">
                <a:solidFill>
                  <a:srgbClr val="2162A5"/>
                </a:solidFill>
                <a:latin typeface="Consolas"/>
                <a:cs typeface="Consolas"/>
              </a:rPr>
              <a:t>f’(metric.capitalize()}</a:t>
            </a:r>
            <a:r>
              <a:rPr dirty="0" sz="750" spc="-65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1C60"/>
                </a:solidFill>
                <a:latin typeface="Consolas"/>
                <a:cs typeface="Consolas"/>
              </a:rPr>
              <a:t>is’,</a:t>
            </a:r>
            <a:r>
              <a:rPr dirty="0" sz="750" spc="-65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162A5"/>
                </a:solidFill>
                <a:latin typeface="Consolas"/>
                <a:cs typeface="Consolas"/>
              </a:rPr>
              <a:t>result.shape[0])</a:t>
            </a:r>
            <a:endParaRPr sz="750">
              <a:latin typeface="Consolas"/>
              <a:cs typeface="Consolas"/>
            </a:endParaRPr>
          </a:p>
          <a:p>
            <a:pPr marL="12700" marR="5080" indent="3175">
              <a:lnSpc>
                <a:spcPct val="106700"/>
              </a:lnSpc>
              <a:tabLst>
                <a:tab pos="881380" algn="l"/>
                <a:tab pos="2108200" algn="l"/>
                <a:tab pos="4300855" algn="l"/>
              </a:tabLst>
            </a:pP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C:&amp;Users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	poata&amp;Local</a:t>
            </a:r>
            <a:r>
              <a:rPr dirty="0" sz="750" spc="16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rogramb&amp;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	non</a:t>
            </a:r>
            <a:r>
              <a:rPr dirty="0" sz="750" spc="39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ytuon)&amp;</a:t>
            </a:r>
            <a:r>
              <a:rPr dirty="0" sz="750" spc="45">
                <a:solidFill>
                  <a:srgbClr val="1D1D1D"/>
                </a:solidFill>
                <a:latin typeface="Consolas"/>
                <a:cs typeface="Consolas"/>
              </a:rPr>
              <a:t> 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Liotite-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paceagesswearn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	rice</a:t>
            </a:r>
            <a:r>
              <a:rPr dirty="0" sz="750" spc="60">
                <a:solidFill>
                  <a:srgbClr val="1D1D1D"/>
                </a:solidFill>
                <a:latin typeface="Consolas"/>
                <a:cs typeface="Consolas"/>
              </a:rPr>
              <a:t> 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cwssification</a:t>
            </a:r>
            <a:r>
              <a:rPr dirty="0" sz="750" spc="434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y:&amp;833:unne+iue</a:t>
            </a:r>
            <a:r>
              <a:rPr dirty="0" sz="750" spc="15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Petri </a:t>
            </a:r>
            <a:r>
              <a:rPr dirty="0" sz="750" spc="-30">
                <a:solidFill>
                  <a:srgbClr val="443D85"/>
                </a:solidFill>
                <a:latin typeface="Consolas"/>
                <a:cs typeface="Consolas"/>
              </a:rPr>
              <a:t>ill-</a:t>
            </a:r>
            <a:r>
              <a:rPr dirty="0" sz="750" spc="-10">
                <a:solidFill>
                  <a:srgbClr val="443D85"/>
                </a:solidFill>
                <a:latin typeface="Consolas"/>
                <a:cs typeface="Consolas"/>
              </a:rPr>
              <a:t>deFiued</a:t>
            </a:r>
            <a:r>
              <a:rPr dirty="0" sz="750" spc="-5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2162A5"/>
                </a:solidFill>
                <a:latin typeface="Consolas"/>
                <a:cs typeface="Consolas"/>
              </a:rPr>
              <a:t>and</a:t>
            </a:r>
            <a:r>
              <a:rPr dirty="0" sz="750" spc="-105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6E1C60"/>
                </a:solidFill>
                <a:latin typeface="Consolas"/>
                <a:cs typeface="Consolas"/>
              </a:rPr>
              <a:t>being</a:t>
            </a:r>
            <a:r>
              <a:rPr dirty="0" sz="750" spc="-40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A3DD"/>
                </a:solidFill>
                <a:latin typeface="Consolas"/>
                <a:cs typeface="Consolas"/>
              </a:rPr>
              <a:t>set</a:t>
            </a:r>
            <a:r>
              <a:rPr dirty="0" sz="750" spc="-65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to</a:t>
            </a:r>
            <a:r>
              <a:rPr dirty="0" sz="750" spc="-80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1C60"/>
                </a:solidFill>
                <a:latin typeface="Consolas"/>
                <a:cs typeface="Consolas"/>
              </a:rPr>
              <a:t>B.0</a:t>
            </a:r>
            <a:r>
              <a:rPr dirty="0" sz="750" spc="-75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in</a:t>
            </a:r>
            <a:r>
              <a:rPr dirty="0" sz="750" spc="-114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labels</a:t>
            </a:r>
            <a:r>
              <a:rPr dirty="0" sz="750" spc="30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9A6285"/>
                </a:solidFill>
                <a:latin typeface="Consolas"/>
                <a:cs typeface="Consolas"/>
              </a:rPr>
              <a:t>with</a:t>
            </a:r>
            <a:r>
              <a:rPr dirty="0" sz="750" spc="-25">
                <a:solidFill>
                  <a:srgbClr val="9A628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A3DD"/>
                </a:solidFill>
                <a:latin typeface="Consolas"/>
                <a:cs typeface="Consolas"/>
              </a:rPr>
              <a:t>uo</a:t>
            </a:r>
            <a:r>
              <a:rPr dirty="0" sz="750" spc="-10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6EA3DD"/>
                </a:solidFill>
                <a:latin typeface="Consolas"/>
                <a:cs typeface="Consolas"/>
              </a:rPr>
              <a:t>predicted</a:t>
            </a:r>
            <a:r>
              <a:rPr dirty="0" sz="750" spc="-5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82828"/>
                </a:solidFill>
                <a:latin typeface="Consolas"/>
                <a:cs typeface="Consolas"/>
              </a:rPr>
              <a:t>samples.</a:t>
            </a:r>
            <a:r>
              <a:rPr dirty="0" sz="750" spc="15">
                <a:solidFill>
                  <a:srgbClr val="282828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Use</a:t>
            </a:r>
            <a:r>
              <a:rPr dirty="0" sz="750" spc="-45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9AC1DD"/>
                </a:solidFill>
                <a:latin typeface="Consolas"/>
                <a:cs typeface="Consolas"/>
              </a:rPr>
              <a:t>’zero_divisiou’</a:t>
            </a:r>
            <a:r>
              <a:rPr dirty="0" sz="750" spc="-25">
                <a:solidFill>
                  <a:srgbClr val="9AC1D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paraeter</a:t>
            </a:r>
            <a:r>
              <a:rPr dirty="0" sz="750" spc="-15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2162A5"/>
                </a:solidFill>
                <a:latin typeface="Consolas"/>
                <a:cs typeface="Consolas"/>
              </a:rPr>
              <a:t>to</a:t>
            </a:r>
            <a:r>
              <a:rPr dirty="0" sz="750" spc="-20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 spc="-75">
                <a:solidFill>
                  <a:srgbClr val="4485C3"/>
                </a:solidFill>
                <a:latin typeface="Consolas"/>
                <a:cs typeface="Consolas"/>
              </a:rPr>
              <a:t>c‹nrtrol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9AC1DD"/>
                </a:solidFill>
                <a:latin typeface="Consolas"/>
                <a:cs typeface="Consolas"/>
              </a:rPr>
              <a:t>this</a:t>
            </a:r>
            <a:r>
              <a:rPr dirty="0" sz="750" spc="-30">
                <a:solidFill>
                  <a:srgbClr val="9AC1D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4485C3"/>
                </a:solidFill>
                <a:latin typeface="Consolas"/>
                <a:cs typeface="Consolas"/>
              </a:rPr>
              <a:t>behavior.</a:t>
            </a:r>
            <a:endParaRPr sz="750">
              <a:latin typeface="Consolas"/>
              <a:cs typeface="Consolas"/>
            </a:endParaRPr>
          </a:p>
          <a:p>
            <a:pPr marL="119380">
              <a:lnSpc>
                <a:spcPct val="100000"/>
              </a:lnSpc>
              <a:spcBef>
                <a:spcPts val="60"/>
              </a:spcBef>
            </a:pPr>
            <a:r>
              <a:rPr dirty="0" sz="750">
                <a:solidFill>
                  <a:srgbClr val="1D1D1D"/>
                </a:solidFill>
                <a:latin typeface="Consolas"/>
                <a:cs typeface="Consolas"/>
              </a:rPr>
              <a:t>_warn</a:t>
            </a:r>
            <a:r>
              <a:rPr dirty="0" sz="750" spc="39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20">
                <a:solidFill>
                  <a:srgbClr val="1D1D1D"/>
                </a:solidFill>
                <a:latin typeface="Consolas"/>
                <a:cs typeface="Consolas"/>
              </a:rPr>
              <a:t>rC(average.</a:t>
            </a:r>
            <a:r>
              <a:rPr dirty="0" sz="750" spc="-30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1D1D1D"/>
                </a:solidFill>
                <a:latin typeface="Consolas"/>
                <a:cs typeface="Consolas"/>
              </a:rPr>
              <a:t>modifier.</a:t>
            </a:r>
            <a:r>
              <a:rPr dirty="0" sz="750" spc="-2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25">
                <a:solidFill>
                  <a:srgbClr val="2162A5"/>
                </a:solidFill>
                <a:latin typeface="Consolas"/>
                <a:cs typeface="Consolas"/>
              </a:rPr>
              <a:t>f’(metric.capitalize()}</a:t>
            </a:r>
            <a:r>
              <a:rPr dirty="0" sz="750" spc="-65">
                <a:solidFill>
                  <a:srgbClr val="2162A5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1C60"/>
                </a:solidFill>
                <a:latin typeface="Consolas"/>
                <a:cs typeface="Consolas"/>
              </a:rPr>
              <a:t>is’,</a:t>
            </a:r>
            <a:r>
              <a:rPr dirty="0" sz="750" spc="-65">
                <a:solidFill>
                  <a:srgbClr val="6E1C60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2162A5"/>
                </a:solidFill>
                <a:latin typeface="Consolas"/>
                <a:cs typeface="Consolas"/>
              </a:rPr>
              <a:t>result.shape[0])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820824" y="5458459"/>
            <a:ext cx="10325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>
                <a:solidFill>
                  <a:srgbClr val="1D1D1D"/>
                </a:solidFill>
                <a:latin typeface="Consolas"/>
                <a:cs typeface="Consolas"/>
              </a:rPr>
              <a:t>arning:</a:t>
            </a:r>
            <a:r>
              <a:rPr dirty="0" sz="750" spc="-4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6E1C60"/>
                </a:solidFill>
                <a:latin typeface="Consolas"/>
                <a:cs typeface="Consolas"/>
              </a:rPr>
              <a:t>Precisionis</a:t>
            </a:r>
            <a:endParaRPr sz="750">
              <a:latin typeface="Consolas"/>
              <a:cs typeface="Consola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820824" y="5824220"/>
            <a:ext cx="10325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0">
                <a:solidFill>
                  <a:srgbClr val="1D1D1D"/>
                </a:solidFill>
                <a:latin typeface="Consolas"/>
                <a:cs typeface="Consolas"/>
              </a:rPr>
              <a:t>arning:</a:t>
            </a:r>
            <a:r>
              <a:rPr dirty="0" sz="750" spc="-45">
                <a:solidFill>
                  <a:srgbClr val="1D1D1D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6E1C60"/>
                </a:solidFill>
                <a:latin typeface="Consolas"/>
                <a:cs typeface="Consolas"/>
              </a:rPr>
              <a:t>Precisionis</a:t>
            </a:r>
            <a:endParaRPr sz="7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892" y="597217"/>
            <a:ext cx="40354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latin typeface="Courier New"/>
                <a:cs typeface="Courier New"/>
              </a:rPr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7892" y="1154048"/>
            <a:ext cx="4954905" cy="3161030"/>
          </a:xfrm>
          <a:prstGeom prst="rect">
            <a:avLst/>
          </a:prstGeom>
        </p:spPr>
        <p:txBody>
          <a:bodyPr wrap="square" lIns="0" tIns="173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PREPROCESSING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PREDICTIONS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70"/>
              </a:spcBef>
            </a:pPr>
            <a:r>
              <a:rPr dirty="0" sz="1800">
                <a:latin typeface="Calibri"/>
                <a:cs typeface="Calibri"/>
              </a:rPr>
              <a:t>IBM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Dataset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(1470×35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features)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 sz="1800" spc="-50">
                <a:latin typeface="Calibri"/>
                <a:cs typeface="Calibri"/>
              </a:rPr>
              <a:t>↓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Calibri"/>
                <a:cs typeface="Calibri"/>
              </a:rPr>
              <a:t>Feature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Selection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(Age,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Salary,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Satisfaction)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 sz="1800" spc="-50">
                <a:latin typeface="Calibri"/>
                <a:cs typeface="Calibri"/>
              </a:rPr>
              <a:t>↓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latin typeface="Calibri"/>
                <a:cs typeface="Calibri"/>
              </a:rPr>
              <a:t>80/20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Train/Test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Split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 sz="1800" spc="-50">
                <a:latin typeface="Calibri"/>
                <a:cs typeface="Calibri"/>
              </a:rPr>
              <a:t>↓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 sz="1800" spc="-10">
                <a:latin typeface="Calibri"/>
                <a:cs typeface="Calibri"/>
              </a:rPr>
              <a:t>LogisticRegression().fit()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 sz="1800" spc="-50">
                <a:latin typeface="Calibri"/>
                <a:cs typeface="Calibri"/>
              </a:rPr>
              <a:t>↓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65"/>
              </a:spcBef>
            </a:pPr>
            <a:r>
              <a:rPr dirty="0" sz="1800">
                <a:latin typeface="Calibri"/>
                <a:cs typeface="Calibri"/>
              </a:rPr>
              <a:t>84%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Accurate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Predictions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50">
                <a:latin typeface="Segoe UI Symbol"/>
                <a:cs typeface="Segoe UI Symbol"/>
              </a:rPr>
              <a:t>✓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892" y="295211"/>
            <a:ext cx="801941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Methodology</a:t>
            </a:r>
            <a:r>
              <a:rPr dirty="0" spc="-190"/>
              <a:t> </a:t>
            </a:r>
            <a:r>
              <a:rPr dirty="0"/>
              <a:t>/</a:t>
            </a:r>
            <a:r>
              <a:rPr dirty="0" spc="-180"/>
              <a:t> </a:t>
            </a:r>
            <a:r>
              <a:rPr dirty="0" spc="-10"/>
              <a:t>Algorithms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7050" y="1013459"/>
            <a:ext cx="4613275" cy="2691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Step-by-</a:t>
            </a:r>
            <a:r>
              <a:rPr dirty="0" sz="1800">
                <a:latin typeface="Calibri"/>
                <a:cs typeface="Calibri"/>
              </a:rPr>
              <a:t>step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workflow: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Load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dataset: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pd.read_csv('IBM_HR.csv')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Preprocess: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Encode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Attrition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Yes=1/No=0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Features: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Age,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MonthlyIncome,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JobSatisfaction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Split: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train_test_split(test_size=0.2)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Model: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LogisticRegression()</a:t>
            </a:r>
            <a:endParaRPr sz="1800">
              <a:latin typeface="Calibri"/>
              <a:cs typeface="Calibri"/>
            </a:endParaRPr>
          </a:p>
          <a:p>
            <a:pPr marL="237490" indent="-22479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237490" algn="l"/>
              </a:tabLst>
            </a:pPr>
            <a:r>
              <a:rPr dirty="0" sz="1800">
                <a:latin typeface="Calibri"/>
                <a:cs typeface="Calibri"/>
              </a:rPr>
              <a:t>Evaluate: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accuracy_score()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84%</a:t>
            </a:r>
            <a:endParaRPr sz="1800">
              <a:latin typeface="Calibri"/>
              <a:cs typeface="Calibri"/>
            </a:endParaRPr>
          </a:p>
          <a:p>
            <a:pPr marL="12700" marR="1340485">
              <a:lnSpc>
                <a:spcPct val="101899"/>
              </a:lnSpc>
              <a:spcBef>
                <a:spcPts val="1250"/>
              </a:spcBef>
            </a:pPr>
            <a:r>
              <a:rPr dirty="0" sz="1800">
                <a:latin typeface="Calibri"/>
                <a:cs typeface="Calibri"/>
              </a:rPr>
              <a:t>Algorithm: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Logistic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Regression </a:t>
            </a:r>
            <a:r>
              <a:rPr dirty="0" sz="1800">
                <a:latin typeface="Calibri"/>
                <a:cs typeface="Calibri"/>
              </a:rPr>
              <a:t>P(Attrition)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1/(1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-10">
                <a:latin typeface="Calibri"/>
                <a:cs typeface="Calibri"/>
              </a:rPr>
              <a:t> e^(-</a:t>
            </a:r>
            <a:r>
              <a:rPr dirty="0" sz="1800" spc="-20">
                <a:latin typeface="Calibri"/>
                <a:cs typeface="Calibri"/>
              </a:rPr>
              <a:t>β₀-</a:t>
            </a:r>
            <a:r>
              <a:rPr dirty="0" sz="1800" spc="-10">
                <a:latin typeface="Calibri"/>
                <a:cs typeface="Calibri"/>
              </a:rPr>
              <a:t>β₁X₁-...))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669" y="1772920"/>
            <a:ext cx="1905000" cy="10667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2570" y="4958079"/>
            <a:ext cx="129539" cy="762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40192" y="401390"/>
            <a:ext cx="4455795" cy="116078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280"/>
              </a:spcBef>
            </a:pPr>
            <a:r>
              <a:rPr dirty="0" sz="950" spc="-135">
                <a:solidFill>
                  <a:srgbClr val="008000"/>
                </a:solidFill>
                <a:latin typeface="Courier New"/>
                <a:cs typeface="Courier New"/>
              </a:rPr>
              <a:t>fr*w•</a:t>
            </a:r>
            <a:r>
              <a:rPr dirty="0" sz="950" spc="-85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950" spc="-50">
                <a:solidFill>
                  <a:srgbClr val="212121"/>
                </a:solidFill>
                <a:latin typeface="Courier New"/>
                <a:cs typeface="Courier New"/>
              </a:rPr>
              <a:t>sklearn.model_selection</a:t>
            </a:r>
            <a:r>
              <a:rPr dirty="0" sz="950" spc="-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50" spc="-130">
                <a:solidFill>
                  <a:srgbClr val="008000"/>
                </a:solidFill>
                <a:latin typeface="Courier New"/>
                <a:cs typeface="Courier New"/>
              </a:rPr>
              <a:t>im)mort</a:t>
            </a:r>
            <a:r>
              <a:rPr dirty="0" sz="950" spc="65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212121"/>
                </a:solidFill>
                <a:latin typeface="Courier New"/>
                <a:cs typeface="Courier New"/>
              </a:rPr>
              <a:t>train_test_split</a:t>
            </a:r>
            <a:endParaRPr sz="950">
              <a:latin typeface="Courier New"/>
              <a:cs typeface="Courier New"/>
            </a:endParaRPr>
          </a:p>
          <a:p>
            <a:pPr marL="21590">
              <a:lnSpc>
                <a:spcPct val="100000"/>
              </a:lnSpc>
              <a:spcBef>
                <a:spcPts val="170"/>
              </a:spcBef>
            </a:pPr>
            <a:r>
              <a:rPr dirty="0" sz="900" spc="-100">
                <a:solidFill>
                  <a:srgbClr val="008000"/>
                </a:solidFill>
                <a:latin typeface="Courier New"/>
                <a:cs typeface="Courier New"/>
              </a:rPr>
              <a:t>Cr*w•</a:t>
            </a:r>
            <a:r>
              <a:rPr dirty="0" sz="900" spc="-105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900" spc="-35">
                <a:solidFill>
                  <a:srgbClr val="212121"/>
                </a:solidFill>
                <a:latin typeface="Courier New"/>
                <a:cs typeface="Courier New"/>
              </a:rPr>
              <a:t>sklearn.linear_«mobel</a:t>
            </a:r>
            <a:r>
              <a:rPr dirty="0" sz="900" spc="-7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00" spc="-75">
                <a:solidFill>
                  <a:srgbClr val="008000"/>
                </a:solidFill>
                <a:latin typeface="Courier New"/>
                <a:cs typeface="Courier New"/>
              </a:rPr>
              <a:t>inywmr#</a:t>
            </a:r>
            <a:r>
              <a:rPr dirty="0" sz="900" spc="4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492149"/>
                </a:solidFill>
                <a:latin typeface="Courier New"/>
                <a:cs typeface="Courier New"/>
              </a:rPr>
              <a:t>LogisticRegression</a:t>
            </a:r>
            <a:endParaRPr sz="900">
              <a:latin typeface="Courier New"/>
              <a:cs typeface="Courier New"/>
            </a:endParaRPr>
          </a:p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 sz="950" spc="-20">
                <a:solidFill>
                  <a:srgbClr val="008000"/>
                </a:solidFill>
                <a:latin typeface="Courier New"/>
                <a:cs typeface="Courier New"/>
              </a:rPr>
              <a:t>fnos</a:t>
            </a:r>
            <a:r>
              <a:rPr dirty="0" sz="950" spc="-95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dirty="0" sz="950" spc="-45">
                <a:solidFill>
                  <a:srgbClr val="212121"/>
                </a:solidFill>
                <a:latin typeface="Courier New"/>
                <a:cs typeface="Courier New"/>
              </a:rPr>
              <a:t>sklearn.metrics</a:t>
            </a:r>
            <a:r>
              <a:rPr dirty="0" sz="950" spc="-7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50" spc="-35">
                <a:solidFill>
                  <a:srgbClr val="D4AF26"/>
                </a:solidFill>
                <a:latin typeface="Courier New"/>
                <a:cs typeface="Courier New"/>
              </a:rPr>
              <a:t>imyort</a:t>
            </a:r>
            <a:r>
              <a:rPr dirty="0" sz="950" spc="-5">
                <a:solidFill>
                  <a:srgbClr val="D4AF26"/>
                </a:solidFill>
                <a:latin typeface="Courier New"/>
                <a:cs typeface="Courier New"/>
              </a:rPr>
              <a:t> </a:t>
            </a:r>
            <a:r>
              <a:rPr dirty="0" sz="950" spc="-45">
                <a:solidFill>
                  <a:srgbClr val="212121"/>
                </a:solidFill>
                <a:latin typeface="Courier New"/>
                <a:cs typeface="Courier New"/>
              </a:rPr>
              <a:t>accuracy_score,</a:t>
            </a:r>
            <a:r>
              <a:rPr dirty="0" sz="950" spc="-10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50" spc="-35">
                <a:solidFill>
                  <a:srgbClr val="212121"/>
                </a:solidFill>
                <a:latin typeface="Courier New"/>
                <a:cs typeface="Courier New"/>
              </a:rPr>
              <a:t>classification_report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950">
              <a:latin typeface="Courier New"/>
              <a:cs typeface="Courier New"/>
            </a:endParaRPr>
          </a:p>
          <a:p>
            <a:pPr marL="12700" marR="328295" indent="3810">
              <a:lnSpc>
                <a:spcPct val="110500"/>
              </a:lnSpc>
              <a:tabLst>
                <a:tab pos="290830" algn="l"/>
              </a:tabLst>
            </a:pPr>
            <a:r>
              <a:rPr dirty="0" sz="950">
                <a:solidFill>
                  <a:srgbClr val="212121"/>
                </a:solidFill>
                <a:latin typeface="Courier New"/>
                <a:cs typeface="Courier New"/>
              </a:rPr>
              <a:t>X</a:t>
            </a:r>
            <a:r>
              <a:rPr dirty="0" sz="950">
                <a:solidFill>
                  <a:srgbClr val="AA21FF"/>
                </a:solidFill>
                <a:latin typeface="Courier New"/>
                <a:cs typeface="Courier New"/>
              </a:rPr>
              <a:t>:</a:t>
            </a:r>
            <a:r>
              <a:rPr dirty="0" sz="950" spc="470">
                <a:solidFill>
                  <a:srgbClr val="AA21FF"/>
                </a:solidFill>
                <a:latin typeface="Courier New"/>
                <a:cs typeface="Courier New"/>
              </a:rPr>
              <a:t> </a:t>
            </a:r>
            <a:r>
              <a:rPr dirty="0" sz="950" spc="-45">
                <a:solidFill>
                  <a:srgbClr val="212121"/>
                </a:solidFill>
                <a:latin typeface="Courier New"/>
                <a:cs typeface="Courier New"/>
              </a:rPr>
              <a:t>simple_data[[’Age’,</a:t>
            </a:r>
            <a:r>
              <a:rPr dirty="0" sz="950" spc="-8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50" spc="-75">
                <a:solidFill>
                  <a:srgbClr val="BA216B"/>
                </a:solidFill>
                <a:latin typeface="Courier New"/>
                <a:cs typeface="Courier New"/>
              </a:rPr>
              <a:t>'MonthlyIncoame',</a:t>
            </a:r>
            <a:r>
              <a:rPr dirty="0" sz="950" spc="-20">
                <a:solidFill>
                  <a:srgbClr val="BA216B"/>
                </a:solidFill>
                <a:latin typeface="Courier New"/>
                <a:cs typeface="Courier New"/>
              </a:rPr>
              <a:t> </a:t>
            </a:r>
            <a:r>
              <a:rPr dirty="0" sz="950" spc="-30">
                <a:solidFill>
                  <a:srgbClr val="BA6EB6"/>
                </a:solidFill>
                <a:latin typeface="Courier New"/>
                <a:cs typeface="Courier New"/>
              </a:rPr>
              <a:t>'JobSatisfaction']] </a:t>
            </a:r>
            <a:r>
              <a:rPr dirty="0" sz="950" spc="-25">
                <a:solidFill>
                  <a:srgbClr val="492121"/>
                </a:solidFill>
                <a:latin typeface="Courier New"/>
                <a:cs typeface="Courier New"/>
              </a:rPr>
              <a:t>y</a:t>
            </a:r>
            <a:r>
              <a:rPr dirty="0" sz="950" spc="-25">
                <a:solidFill>
                  <a:srgbClr val="AA21FF"/>
                </a:solidFill>
                <a:latin typeface="Courier New"/>
                <a:cs typeface="Courier New"/>
              </a:rPr>
              <a:t>:</a:t>
            </a:r>
            <a:r>
              <a:rPr dirty="0" sz="950">
                <a:solidFill>
                  <a:srgbClr val="AA21FF"/>
                </a:solidFill>
                <a:latin typeface="Courier New"/>
                <a:cs typeface="Courier New"/>
              </a:rPr>
              <a:t>	</a:t>
            </a:r>
            <a:r>
              <a:rPr dirty="0" sz="950" spc="-10">
                <a:solidFill>
                  <a:srgbClr val="212121"/>
                </a:solidFill>
                <a:latin typeface="Courier New"/>
                <a:cs typeface="Courier New"/>
              </a:rPr>
              <a:t>simple_data[’Attrition']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4505" y="1885950"/>
            <a:ext cx="49466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212121"/>
                </a:solidFill>
                <a:latin typeface="Courier New"/>
                <a:cs typeface="Courier New"/>
              </a:rPr>
              <a:t>X_train, X_test,</a:t>
            </a:r>
            <a:r>
              <a:rPr dirty="0" sz="900" spc="-8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12121"/>
                </a:solidFill>
                <a:latin typeface="Courier New"/>
                <a:cs typeface="Courier New"/>
              </a:rPr>
              <a:t>y_train,</a:t>
            </a:r>
            <a:r>
              <a:rPr dirty="0" sz="900" spc="-4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212121"/>
                </a:solidFill>
                <a:latin typeface="Courier New"/>
                <a:cs typeface="Courier New"/>
              </a:rPr>
              <a:t>y_test</a:t>
            </a:r>
            <a:r>
              <a:rPr dirty="0" sz="900" spc="-40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AA21FF"/>
                </a:solidFill>
                <a:latin typeface="Courier New"/>
                <a:cs typeface="Courier New"/>
              </a:rPr>
              <a:t>:</a:t>
            </a:r>
            <a:r>
              <a:rPr dirty="0" sz="900" spc="430">
                <a:solidFill>
                  <a:srgbClr val="AA21FF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Courier New"/>
                <a:cs typeface="Courier New"/>
              </a:rPr>
              <a:t>train_test_sp1it(X,</a:t>
            </a:r>
            <a:r>
              <a:rPr dirty="0" sz="900" spc="-6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21216B"/>
                </a:solidFill>
                <a:latin typeface="Courier New"/>
                <a:cs typeface="Courier New"/>
              </a:rPr>
              <a:t>y,</a:t>
            </a:r>
            <a:r>
              <a:rPr dirty="0" sz="900" spc="10">
                <a:solidFill>
                  <a:srgbClr val="21216B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Courier New"/>
                <a:cs typeface="Courier New"/>
              </a:rPr>
              <a:t>test_size:e.2,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54901" y="1885950"/>
            <a:ext cx="10052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212121"/>
                </a:solidFill>
                <a:latin typeface="Courier New"/>
                <a:cs typeface="Courier New"/>
              </a:rPr>
              <a:t>»dom_state:42)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5841" y="2175510"/>
            <a:ext cx="4911090" cy="22440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11760" marR="2862580" indent="603250">
              <a:lnSpc>
                <a:spcPct val="119400"/>
              </a:lnSpc>
              <a:spcBef>
                <a:spcPts val="130"/>
              </a:spcBef>
            </a:pPr>
            <a:r>
              <a:rPr dirty="0" sz="900">
                <a:solidFill>
                  <a:srgbClr val="3F809E"/>
                </a:solidFill>
                <a:latin typeface="Courier New"/>
                <a:cs typeface="Courier New"/>
              </a:rPr>
              <a:t>Groin</a:t>
            </a:r>
            <a:r>
              <a:rPr dirty="0" sz="900" spc="-50">
                <a:solidFill>
                  <a:srgbClr val="3F809E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5D8080"/>
                </a:solidFill>
                <a:latin typeface="Courier New"/>
                <a:cs typeface="Courier New"/>
              </a:rPr>
              <a:t>+</a:t>
            </a:r>
            <a:r>
              <a:rPr dirty="0" sz="900" spc="-45">
                <a:solidFill>
                  <a:srgbClr val="5D8080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80C4F4"/>
                </a:solidFill>
                <a:latin typeface="Courier New"/>
                <a:cs typeface="Courier New"/>
              </a:rPr>
              <a:t>teoch</a:t>
            </a:r>
            <a:r>
              <a:rPr dirty="0" sz="900" spc="15">
                <a:solidFill>
                  <a:srgbClr val="80C4F4"/>
                </a:solidFill>
                <a:latin typeface="Courier New"/>
                <a:cs typeface="Courier New"/>
              </a:rPr>
              <a:t> </a:t>
            </a:r>
            <a:r>
              <a:rPr dirty="0" sz="900" spc="-50">
                <a:solidFill>
                  <a:srgbClr val="5DAFDB"/>
                </a:solidFill>
                <a:latin typeface="Courier New"/>
                <a:cs typeface="Courier New"/>
              </a:rPr>
              <a:t>i </a:t>
            </a:r>
            <a:r>
              <a:rPr dirty="0" sz="900" spc="-30">
                <a:solidFill>
                  <a:srgbClr val="4993DA"/>
                </a:solidFill>
                <a:latin typeface="Courier New"/>
                <a:cs typeface="Courier New"/>
              </a:rPr>
              <a:t>model</a:t>
            </a:r>
            <a:r>
              <a:rPr dirty="0" sz="900" spc="-445">
                <a:solidFill>
                  <a:srgbClr val="4993DA"/>
                </a:solidFill>
                <a:latin typeface="Courier New"/>
                <a:cs typeface="Courier New"/>
              </a:rPr>
              <a:t> </a:t>
            </a:r>
            <a:r>
              <a:rPr dirty="0" sz="900">
                <a:solidFill>
                  <a:srgbClr val="AA21FF"/>
                </a:solidFill>
                <a:latin typeface="Courier New"/>
                <a:cs typeface="Courier New"/>
              </a:rPr>
              <a:t>:</a:t>
            </a:r>
            <a:r>
              <a:rPr dirty="0" sz="900" spc="-15">
                <a:solidFill>
                  <a:srgbClr val="AA21FF"/>
                </a:solidFill>
                <a:latin typeface="Courier New"/>
                <a:cs typeface="Courier New"/>
              </a:rPr>
              <a:t>  </a:t>
            </a:r>
            <a:r>
              <a:rPr dirty="0" sz="900" spc="-10">
                <a:solidFill>
                  <a:srgbClr val="21216B"/>
                </a:solidFill>
                <a:latin typeface="Courier New"/>
                <a:cs typeface="Courier New"/>
              </a:rPr>
              <a:t>LogisticRegression() </a:t>
            </a:r>
            <a:r>
              <a:rPr dirty="0" sz="900" spc="-10">
                <a:solidFill>
                  <a:srgbClr val="212121"/>
                </a:solidFill>
                <a:latin typeface="Courier New"/>
                <a:cs typeface="Courier New"/>
              </a:rPr>
              <a:t>model.fit(X_train,</a:t>
            </a:r>
            <a:r>
              <a:rPr dirty="0" sz="900" spc="-8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12121"/>
                </a:solidFill>
                <a:latin typeface="Courier New"/>
                <a:cs typeface="Courier New"/>
              </a:rPr>
              <a:t>y_train)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>
              <a:latin typeface="Courier New"/>
              <a:cs typeface="Courier New"/>
            </a:endParaRPr>
          </a:p>
          <a:p>
            <a:pPr marL="104139">
              <a:lnSpc>
                <a:spcPct val="100000"/>
              </a:lnSpc>
            </a:pPr>
            <a:r>
              <a:rPr dirty="0" sz="900" i="1">
                <a:solidFill>
                  <a:srgbClr val="F4DBB1"/>
                </a:solidFill>
                <a:latin typeface="Calibri"/>
                <a:cs typeface="Calibri"/>
              </a:rPr>
              <a:t>#</a:t>
            </a:r>
            <a:r>
              <a:rPr dirty="0" sz="900" spc="405" i="1">
                <a:solidFill>
                  <a:srgbClr val="F4DBB1"/>
                </a:solidFill>
                <a:latin typeface="Calibri"/>
                <a:cs typeface="Calibri"/>
              </a:rPr>
              <a:t> </a:t>
            </a:r>
            <a:r>
              <a:rPr dirty="0" sz="900" spc="155" i="1">
                <a:solidFill>
                  <a:srgbClr val="3F9EC3"/>
                </a:solidFill>
                <a:latin typeface="Calibri"/>
                <a:cs typeface="Calibri"/>
              </a:rPr>
              <a:t>Test</a:t>
            </a:r>
            <a:r>
              <a:rPr dirty="0" sz="900" spc="380" i="1">
                <a:solidFill>
                  <a:srgbClr val="3F9EC3"/>
                </a:solidFill>
                <a:latin typeface="Calibri"/>
                <a:cs typeface="Calibri"/>
              </a:rPr>
              <a:t> </a:t>
            </a:r>
            <a:r>
              <a:rPr dirty="0" sz="900" spc="80" i="1">
                <a:solidFill>
                  <a:srgbClr val="5DAFDB"/>
                </a:solidFill>
                <a:latin typeface="Calibri"/>
                <a:cs typeface="Calibri"/>
              </a:rPr>
              <a:t>it:!</a:t>
            </a:r>
            <a:endParaRPr sz="90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240"/>
              </a:spcBef>
            </a:pPr>
            <a:r>
              <a:rPr dirty="0" sz="900" spc="10">
                <a:solidFill>
                  <a:srgbClr val="492121"/>
                </a:solidFill>
                <a:latin typeface="Calibri"/>
                <a:cs typeface="Calibri"/>
              </a:rPr>
              <a:t>pz•edi</a:t>
            </a:r>
            <a:r>
              <a:rPr dirty="0" sz="900" spc="10">
                <a:solidFill>
                  <a:srgbClr val="4993DA"/>
                </a:solidFill>
                <a:latin typeface="Calibri"/>
                <a:cs typeface="Calibri"/>
              </a:rPr>
              <a:t>ct</a:t>
            </a:r>
            <a:r>
              <a:rPr dirty="0" sz="900" spc="135">
                <a:solidFill>
                  <a:srgbClr val="4993DA"/>
                </a:solidFill>
                <a:latin typeface="Calibri"/>
                <a:cs typeface="Calibri"/>
              </a:rPr>
              <a:t> </a:t>
            </a:r>
            <a:r>
              <a:rPr dirty="0" sz="900" spc="80">
                <a:solidFill>
                  <a:srgbClr val="492149"/>
                </a:solidFill>
                <a:latin typeface="Calibri"/>
                <a:cs typeface="Calibri"/>
              </a:rPr>
              <a:t>bans</a:t>
            </a:r>
            <a:r>
              <a:rPr dirty="0" sz="900" spc="484">
                <a:solidFill>
                  <a:srgbClr val="492149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AA21FF"/>
                </a:solidFill>
                <a:latin typeface="Calibri"/>
                <a:cs typeface="Calibri"/>
              </a:rPr>
              <a:t>-</a:t>
            </a:r>
            <a:r>
              <a:rPr dirty="0" sz="900" spc="204">
                <a:solidFill>
                  <a:srgbClr val="AA21FF"/>
                </a:solidFill>
                <a:latin typeface="Calibri"/>
                <a:cs typeface="Calibri"/>
              </a:rPr>
              <a:t>  </a:t>
            </a:r>
            <a:r>
              <a:rPr dirty="0" sz="900" spc="65">
                <a:solidFill>
                  <a:srgbClr val="4993DA"/>
                </a:solidFill>
                <a:latin typeface="Calibri"/>
                <a:cs typeface="Calibri"/>
              </a:rPr>
              <a:t>model</a:t>
            </a:r>
            <a:r>
              <a:rPr dirty="0" sz="900" spc="-55">
                <a:solidFill>
                  <a:srgbClr val="4993DA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AA21FF"/>
                </a:solidFill>
                <a:latin typeface="Calibri"/>
                <a:cs typeface="Calibri"/>
              </a:rPr>
              <a:t>.</a:t>
            </a:r>
            <a:r>
              <a:rPr dirty="0" sz="900" spc="-25">
                <a:solidFill>
                  <a:srgbClr val="AA21FF"/>
                </a:solidFill>
                <a:latin typeface="Calibri"/>
                <a:cs typeface="Calibri"/>
              </a:rPr>
              <a:t> </a:t>
            </a:r>
            <a:r>
              <a:rPr dirty="0" sz="900" spc="130">
                <a:solidFill>
                  <a:srgbClr val="216EB6"/>
                </a:solidFill>
                <a:latin typeface="Calibri"/>
                <a:cs typeface="Calibri"/>
              </a:rPr>
              <a:t>predlc</a:t>
            </a:r>
            <a:r>
              <a:rPr dirty="0" sz="900" spc="-95">
                <a:solidFill>
                  <a:srgbClr val="216EB6"/>
                </a:solidFill>
                <a:latin typeface="Calibri"/>
                <a:cs typeface="Calibri"/>
              </a:rPr>
              <a:t> </a:t>
            </a:r>
            <a:r>
              <a:rPr dirty="0" sz="900" spc="114">
                <a:solidFill>
                  <a:srgbClr val="4993DA"/>
                </a:solidFill>
                <a:latin typeface="Calibri"/>
                <a:cs typeface="Calibri"/>
              </a:rPr>
              <a:t>t</a:t>
            </a:r>
            <a:r>
              <a:rPr dirty="0" sz="900" spc="114">
                <a:solidFill>
                  <a:srgbClr val="212121"/>
                </a:solidFill>
                <a:latin typeface="Calibri"/>
                <a:cs typeface="Calibri"/>
              </a:rPr>
              <a:t>(X_t</a:t>
            </a:r>
            <a:r>
              <a:rPr dirty="0" sz="900" spc="10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900" spc="125">
                <a:solidFill>
                  <a:srgbClr val="6BB5F4"/>
                </a:solidFill>
                <a:latin typeface="Calibri"/>
                <a:cs typeface="Calibri"/>
              </a:rPr>
              <a:t>est</a:t>
            </a:r>
            <a:r>
              <a:rPr dirty="0" sz="900" spc="125">
                <a:solidFill>
                  <a:srgbClr val="0054B1"/>
                </a:solidFill>
                <a:latin typeface="Calibri"/>
                <a:cs typeface="Calibri"/>
              </a:rPr>
              <a:t>)</a:t>
            </a:r>
            <a:endParaRPr sz="900">
              <a:latin typeface="Calibri"/>
              <a:cs typeface="Calibri"/>
            </a:endParaRPr>
          </a:p>
          <a:p>
            <a:pPr marL="107950">
              <a:lnSpc>
                <a:spcPct val="100000"/>
              </a:lnSpc>
              <a:spcBef>
                <a:spcPts val="180"/>
              </a:spcBef>
              <a:tabLst>
                <a:tab pos="2421255" algn="l"/>
              </a:tabLst>
            </a:pPr>
            <a:r>
              <a:rPr dirty="0" sz="900" spc="120">
                <a:solidFill>
                  <a:srgbClr val="492121"/>
                </a:solidFill>
                <a:latin typeface="Calibri"/>
                <a:cs typeface="Calibri"/>
              </a:rPr>
              <a:t>accuracy</a:t>
            </a:r>
            <a:r>
              <a:rPr dirty="0" sz="900" spc="450">
                <a:solidFill>
                  <a:srgbClr val="492121"/>
                </a:solidFill>
                <a:latin typeface="Calibri"/>
                <a:cs typeface="Calibri"/>
              </a:rPr>
              <a:t> </a:t>
            </a:r>
            <a:r>
              <a:rPr dirty="0" sz="900" spc="85">
                <a:solidFill>
                  <a:srgbClr val="AA21FF"/>
                </a:solidFill>
                <a:latin typeface="Calibri"/>
                <a:cs typeface="Calibri"/>
              </a:rPr>
              <a:t>-</a:t>
            </a:r>
            <a:r>
              <a:rPr dirty="0" sz="900" spc="445">
                <a:solidFill>
                  <a:srgbClr val="AA21FF"/>
                </a:solidFill>
                <a:latin typeface="Calibri"/>
                <a:cs typeface="Calibri"/>
              </a:rPr>
              <a:t> </a:t>
            </a:r>
            <a:r>
              <a:rPr dirty="0" sz="900" spc="75">
                <a:solidFill>
                  <a:srgbClr val="95D6F4"/>
                </a:solidFill>
                <a:latin typeface="Calibri"/>
                <a:cs typeface="Calibri"/>
              </a:rPr>
              <a:t>ac</a:t>
            </a:r>
            <a:r>
              <a:rPr dirty="0" sz="900" spc="75">
                <a:solidFill>
                  <a:srgbClr val="212121"/>
                </a:solidFill>
                <a:latin typeface="Calibri"/>
                <a:cs typeface="Calibri"/>
              </a:rPr>
              <a:t>cuz•acy_scane(y_t</a:t>
            </a:r>
            <a:r>
              <a:rPr dirty="0" sz="900" spc="75">
                <a:solidFill>
                  <a:srgbClr val="4993DA"/>
                </a:solidFill>
                <a:latin typeface="Calibri"/>
                <a:cs typeface="Calibri"/>
              </a:rPr>
              <a:t>es</a:t>
            </a:r>
            <a:r>
              <a:rPr dirty="0" sz="900" spc="75">
                <a:solidFill>
                  <a:srgbClr val="2654AA"/>
                </a:solidFill>
                <a:latin typeface="Calibri"/>
                <a:cs typeface="Calibri"/>
              </a:rPr>
              <a:t>,</a:t>
            </a:r>
            <a:r>
              <a:rPr dirty="0" sz="900" spc="75">
                <a:solidFill>
                  <a:srgbClr val="4993DA"/>
                </a:solidFill>
                <a:latin typeface="Calibri"/>
                <a:cs typeface="Calibri"/>
              </a:rPr>
              <a:t>t</a:t>
            </a:r>
            <a:r>
              <a:rPr dirty="0" sz="900">
                <a:solidFill>
                  <a:srgbClr val="4993DA"/>
                </a:solidFill>
                <a:latin typeface="Calibri"/>
                <a:cs typeface="Calibri"/>
              </a:rPr>
              <a:t>	</a:t>
            </a:r>
            <a:r>
              <a:rPr dirty="0" sz="900" spc="145">
                <a:solidFill>
                  <a:srgbClr val="216EB6"/>
                </a:solidFill>
                <a:latin typeface="Calibri"/>
                <a:cs typeface="Calibri"/>
              </a:rPr>
              <a:t>predl</a:t>
            </a:r>
            <a:r>
              <a:rPr dirty="0" sz="900" spc="145">
                <a:solidFill>
                  <a:srgbClr val="6BB5F4"/>
                </a:solidFill>
                <a:latin typeface="Calibri"/>
                <a:cs typeface="Calibri"/>
              </a:rPr>
              <a:t>ction</a:t>
            </a:r>
            <a:r>
              <a:rPr dirty="0" sz="900" spc="145">
                <a:solidFill>
                  <a:srgbClr val="214995"/>
                </a:solidFill>
                <a:latin typeface="Calibri"/>
                <a:cs typeface="Calibri"/>
              </a:rPr>
              <a:t>s)</a:t>
            </a:r>
            <a:endParaRPr sz="90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180"/>
              </a:spcBef>
              <a:tabLst>
                <a:tab pos="888365" algn="l"/>
              </a:tabLst>
            </a:pPr>
            <a:r>
              <a:rPr dirty="0" sz="900" spc="45">
                <a:solidFill>
                  <a:srgbClr val="492121"/>
                </a:solidFill>
                <a:latin typeface="Calibri"/>
                <a:cs typeface="Calibri"/>
              </a:rPr>
              <a:t>pz•int</a:t>
            </a:r>
            <a:r>
              <a:rPr dirty="0" sz="900" spc="45">
                <a:solidFill>
                  <a:srgbClr val="87DBF4"/>
                </a:solidFill>
                <a:latin typeface="Calibri"/>
                <a:cs typeface="Calibri"/>
              </a:rPr>
              <a:t>(f"</a:t>
            </a:r>
            <a:r>
              <a:rPr dirty="0" sz="900">
                <a:solidFill>
                  <a:srgbClr val="87DBF4"/>
                </a:solidFill>
                <a:latin typeface="Calibri"/>
                <a:cs typeface="Calibri"/>
              </a:rPr>
              <a:t>	</a:t>
            </a:r>
            <a:r>
              <a:rPr dirty="0" sz="900">
                <a:solidFill>
                  <a:srgbClr val="F4B56B"/>
                </a:solidFill>
                <a:latin typeface="Calibri"/>
                <a:cs typeface="Calibri"/>
              </a:rPr>
              <a:t>YOUR</a:t>
            </a:r>
            <a:r>
              <a:rPr dirty="0" sz="900" spc="360">
                <a:solidFill>
                  <a:srgbClr val="F4B56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BF2149"/>
                </a:solidFill>
                <a:latin typeface="Calibri"/>
                <a:cs typeface="Calibri"/>
              </a:rPr>
              <a:t>NODE</a:t>
            </a:r>
            <a:r>
              <a:rPr dirty="0" sz="900" spc="-105">
                <a:solidFill>
                  <a:srgbClr val="BF214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BA6EB6"/>
                </a:solidFill>
                <a:latin typeface="Calibri"/>
                <a:cs typeface="Calibri"/>
              </a:rPr>
              <a:t>L</a:t>
            </a:r>
            <a:r>
              <a:rPr dirty="0" sz="900" spc="484">
                <a:solidFill>
                  <a:srgbClr val="BA6EB6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BF9395"/>
                </a:solidFill>
                <a:latin typeface="Calibri"/>
                <a:cs typeface="Calibri"/>
              </a:rPr>
              <a:t>ACCURACY</a:t>
            </a:r>
            <a:r>
              <a:rPr dirty="0" sz="900" spc="50">
                <a:solidFill>
                  <a:srgbClr val="BA2149"/>
                </a:solidFill>
                <a:latin typeface="Calibri"/>
                <a:cs typeface="Calibri"/>
              </a:rPr>
              <a:t>:</a:t>
            </a:r>
            <a:r>
              <a:rPr dirty="0" sz="900" spc="455">
                <a:solidFill>
                  <a:srgbClr val="BA214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CFD6F4"/>
                </a:solidFill>
                <a:latin typeface="Calibri"/>
                <a:cs typeface="Calibri"/>
              </a:rPr>
              <a:t>{ac</a:t>
            </a:r>
            <a:r>
              <a:rPr dirty="0" sz="900" spc="215">
                <a:solidFill>
                  <a:srgbClr val="CFD6F4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492149"/>
                </a:solidFill>
                <a:latin typeface="Calibri"/>
                <a:cs typeface="Calibri"/>
              </a:rPr>
              <a:t>cuz•acy:</a:t>
            </a:r>
            <a:r>
              <a:rPr dirty="0" sz="900" spc="75">
                <a:solidFill>
                  <a:srgbClr val="49214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BA2121"/>
                </a:solidFill>
                <a:latin typeface="Calibri"/>
                <a:cs typeface="Calibri"/>
              </a:rPr>
              <a:t>.</a:t>
            </a:r>
            <a:r>
              <a:rPr dirty="0" sz="900" spc="-25">
                <a:solidFill>
                  <a:srgbClr val="BA2121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BA2121"/>
                </a:solidFill>
                <a:latin typeface="Calibri"/>
                <a:cs typeface="Calibri"/>
              </a:rPr>
              <a:t>2¥}</a:t>
            </a:r>
            <a:r>
              <a:rPr dirty="0" sz="900" spc="235">
                <a:solidFill>
                  <a:srgbClr val="BA2121"/>
                </a:solidFill>
                <a:latin typeface="Calibri"/>
                <a:cs typeface="Calibri"/>
              </a:rPr>
              <a:t>  </a:t>
            </a:r>
            <a:r>
              <a:rPr dirty="0" sz="900" spc="90">
                <a:solidFill>
                  <a:srgbClr val="CFD6F4"/>
                </a:solidFill>
                <a:latin typeface="Calibri"/>
                <a:cs typeface="Calibri"/>
              </a:rPr>
              <a:t>({ac</a:t>
            </a:r>
            <a:r>
              <a:rPr dirty="0" sz="900" spc="90">
                <a:solidFill>
                  <a:srgbClr val="492149"/>
                </a:solidFill>
                <a:latin typeface="Calibri"/>
                <a:cs typeface="Calibri"/>
              </a:rPr>
              <a:t>cuz•acy^</a:t>
            </a:r>
            <a:r>
              <a:rPr dirty="0" sz="900" spc="90">
                <a:solidFill>
                  <a:srgbClr val="26B5D4"/>
                </a:solidFill>
                <a:latin typeface="Calibri"/>
                <a:cs typeface="Calibri"/>
              </a:rPr>
              <a:t>10B</a:t>
            </a:r>
            <a:r>
              <a:rPr dirty="0" sz="900" spc="90">
                <a:solidFill>
                  <a:srgbClr val="BA2149"/>
                </a:solidFill>
                <a:latin typeface="Calibri"/>
                <a:cs typeface="Calibri"/>
              </a:rPr>
              <a:t>:</a:t>
            </a:r>
            <a:r>
              <a:rPr dirty="0" sz="900" spc="45">
                <a:solidFill>
                  <a:srgbClr val="BA2149"/>
                </a:solidFill>
                <a:latin typeface="Calibri"/>
                <a:cs typeface="Calibri"/>
              </a:rPr>
              <a:t> </a:t>
            </a:r>
            <a:r>
              <a:rPr dirty="0" sz="900" spc="55">
                <a:solidFill>
                  <a:srgbClr val="BA2121"/>
                </a:solidFill>
                <a:latin typeface="Calibri"/>
                <a:cs typeface="Calibri"/>
              </a:rPr>
              <a:t>.</a:t>
            </a:r>
            <a:r>
              <a:rPr dirty="0" sz="900" spc="-90">
                <a:solidFill>
                  <a:srgbClr val="BA2121"/>
                </a:solidFill>
                <a:latin typeface="Calibri"/>
                <a:cs typeface="Calibri"/>
              </a:rPr>
              <a:t> </a:t>
            </a:r>
            <a:r>
              <a:rPr dirty="0" sz="900" spc="170">
                <a:solidFill>
                  <a:srgbClr val="BA2121"/>
                </a:solidFill>
                <a:latin typeface="Calibri"/>
                <a:cs typeface="Calibri"/>
              </a:rPr>
              <a:t>0f}¥)</a:t>
            </a:r>
            <a:r>
              <a:rPr dirty="0" sz="900" spc="-95">
                <a:solidFill>
                  <a:srgbClr val="BA2121"/>
                </a:solidFill>
                <a:latin typeface="Calibri"/>
                <a:cs typeface="Calibri"/>
              </a:rPr>
              <a:t> </a:t>
            </a:r>
            <a:r>
              <a:rPr dirty="0" sz="900" spc="130">
                <a:solidFill>
                  <a:srgbClr val="BA2149"/>
                </a:solidFill>
                <a:latin typeface="Calibri"/>
                <a:cs typeface="Calibri"/>
              </a:rPr>
              <a:t>")</a:t>
            </a:r>
            <a:endParaRPr sz="900">
              <a:latin typeface="Calibri"/>
              <a:cs typeface="Calibri"/>
            </a:endParaRPr>
          </a:p>
          <a:p>
            <a:pPr marL="110489" marR="1455420">
              <a:lnSpc>
                <a:spcPts val="1320"/>
              </a:lnSpc>
              <a:spcBef>
                <a:spcPts val="25"/>
              </a:spcBef>
            </a:pPr>
            <a:r>
              <a:rPr dirty="0" sz="900" spc="-10">
                <a:solidFill>
                  <a:srgbClr val="492121"/>
                </a:solidFill>
                <a:latin typeface="Courier New"/>
                <a:cs typeface="Courier New"/>
              </a:rPr>
              <a:t>print(”\nDetailed</a:t>
            </a:r>
            <a:r>
              <a:rPr dirty="0" sz="900" spc="5">
                <a:solidFill>
                  <a:srgbClr val="492121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BA6EB6"/>
                </a:solidFill>
                <a:latin typeface="Courier New"/>
                <a:cs typeface="Courier New"/>
              </a:rPr>
              <a:t>Report:’) </a:t>
            </a:r>
            <a:r>
              <a:rPr dirty="0" sz="900" spc="-10">
                <a:solidFill>
                  <a:srgbClr val="212121"/>
                </a:solidFill>
                <a:latin typeface="Courier New"/>
                <a:cs typeface="Courier New"/>
              </a:rPr>
              <a:t>print(classification_report(y_test,</a:t>
            </a:r>
            <a:r>
              <a:rPr dirty="0" sz="900" spc="55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dirty="0" sz="900" spc="-10">
                <a:solidFill>
                  <a:srgbClr val="216EB6"/>
                </a:solidFill>
                <a:latin typeface="Courier New"/>
                <a:cs typeface="Courier New"/>
              </a:rPr>
              <a:t>predictions))</a:t>
            </a:r>
            <a:endParaRPr sz="900">
              <a:latin typeface="Courier New"/>
              <a:cs typeface="Courier New"/>
            </a:endParaRPr>
          </a:p>
          <a:p>
            <a:pPr marL="255904">
              <a:lnSpc>
                <a:spcPct val="100000"/>
              </a:lnSpc>
              <a:spcBef>
                <a:spcPts val="875"/>
              </a:spcBef>
            </a:pPr>
            <a:r>
              <a:rPr dirty="0" sz="900">
                <a:solidFill>
                  <a:srgbClr val="2D2D2D"/>
                </a:solidFill>
                <a:latin typeface="Calibri"/>
                <a:cs typeface="Calibri"/>
              </a:rPr>
              <a:t>Y€RJR</a:t>
            </a:r>
            <a:r>
              <a:rPr dirty="0" sz="900" spc="29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900" spc="-65">
                <a:solidFill>
                  <a:srgbClr val="6EBCFF"/>
                </a:solidFill>
                <a:latin typeface="Calibri"/>
                <a:cs typeface="Calibri"/>
              </a:rPr>
              <a:t>MODE</a:t>
            </a:r>
            <a:r>
              <a:rPr dirty="0" sz="900" spc="-75">
                <a:solidFill>
                  <a:srgbClr val="6EBCFF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499E2"/>
                </a:solidFill>
                <a:latin typeface="Calibri"/>
                <a:cs typeface="Calibri"/>
              </a:rPr>
              <a:t>L</a:t>
            </a:r>
            <a:r>
              <a:rPr dirty="0" sz="900" spc="190">
                <a:solidFill>
                  <a:srgbClr val="4499E2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383838"/>
                </a:solidFill>
                <a:latin typeface="Calibri"/>
                <a:cs typeface="Calibri"/>
              </a:rPr>
              <a:t>ACCURACY:</a:t>
            </a:r>
            <a:r>
              <a:rPr dirty="0" sz="900" spc="200">
                <a:solidFill>
                  <a:srgbClr val="383838"/>
                </a:solidFill>
                <a:latin typeface="Calibri"/>
                <a:cs typeface="Calibri"/>
              </a:rPr>
              <a:t>  </a:t>
            </a:r>
            <a:r>
              <a:rPr dirty="0" sz="900">
                <a:solidFill>
                  <a:srgbClr val="6EBCFF"/>
                </a:solidFill>
                <a:latin typeface="Calibri"/>
                <a:cs typeface="Calibri"/>
              </a:rPr>
              <a:t>86.</a:t>
            </a:r>
            <a:r>
              <a:rPr dirty="0" sz="900" spc="210">
                <a:solidFill>
                  <a:srgbClr val="6EBCFF"/>
                </a:solidFill>
                <a:latin typeface="Calibri"/>
                <a:cs typeface="Calibri"/>
              </a:rPr>
              <a:t> </a:t>
            </a:r>
            <a:r>
              <a:rPr dirty="0" sz="900" spc="50">
                <a:solidFill>
                  <a:srgbClr val="2D2D2D"/>
                </a:solidFill>
                <a:latin typeface="Calibri"/>
                <a:cs typeface="Calibri"/>
              </a:rPr>
              <a:t>73¥</a:t>
            </a:r>
            <a:r>
              <a:rPr dirty="0" sz="900" spc="200">
                <a:solidFill>
                  <a:srgbClr val="2D2D2D"/>
                </a:solidFill>
                <a:latin typeface="Calibri"/>
                <a:cs typeface="Calibri"/>
              </a:rPr>
              <a:t>  </a:t>
            </a:r>
            <a:r>
              <a:rPr dirty="0" sz="900" spc="85">
                <a:solidFill>
                  <a:srgbClr val="2D2D2D"/>
                </a:solidFill>
                <a:latin typeface="Calibri"/>
                <a:cs typeface="Calibri"/>
              </a:rPr>
              <a:t>(87&amp;)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-35">
                <a:solidFill>
                  <a:srgbClr val="21216E"/>
                </a:solidFill>
                <a:latin typeface="Courier New"/>
                <a:cs typeface="Courier New"/>
              </a:rPr>
              <a:t>Detailed</a:t>
            </a:r>
            <a:r>
              <a:rPr dirty="0" sz="950" spc="-45">
                <a:solidFill>
                  <a:srgbClr val="21216E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2D2D2D"/>
                </a:solidFill>
                <a:latin typeface="Courier New"/>
                <a:cs typeface="Courier New"/>
              </a:rPr>
              <a:t>Report:</a:t>
            </a:r>
            <a:endParaRPr sz="950">
              <a:latin typeface="Courier New"/>
              <a:cs typeface="Courier New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42978" y="4447633"/>
          <a:ext cx="3778885" cy="1262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115"/>
                <a:gridCol w="816610"/>
                <a:gridCol w="606425"/>
                <a:gridCol w="720725"/>
                <a:gridCol w="636270"/>
              </a:tblGrid>
              <a:tr h="2241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ts val="930"/>
                        </a:lnSpc>
                      </a:pPr>
                      <a:r>
                        <a:rPr dirty="0" sz="900" spc="-1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precision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9690">
                        <a:lnSpc>
                          <a:spcPts val="930"/>
                        </a:lnSpc>
                      </a:pPr>
                      <a:r>
                        <a:rPr dirty="0" sz="900" spc="-10">
                          <a:solidFill>
                            <a:srgbClr val="383838"/>
                          </a:solidFill>
                          <a:latin typeface="Courier New"/>
                          <a:cs typeface="Courier New"/>
                        </a:rPr>
                        <a:t>recall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06680">
                        <a:lnSpc>
                          <a:spcPts val="930"/>
                        </a:lnSpc>
                      </a:pPr>
                      <a:r>
                        <a:rPr dirty="0" sz="900" spc="-2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fl-</a:t>
                      </a:r>
                      <a:r>
                        <a:rPr dirty="0" sz="900" spc="-1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score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ts val="930"/>
                        </a:lnSpc>
                      </a:pPr>
                      <a:r>
                        <a:rPr dirty="0" sz="900" spc="-1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support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492759">
                <a:tc>
                  <a:txBody>
                    <a:bodyPr/>
                    <a:lstStyle/>
                    <a:p>
                      <a:pPr marL="773430">
                        <a:lnSpc>
                          <a:spcPts val="1290"/>
                        </a:lnSpc>
                        <a:spcBef>
                          <a:spcPts val="459"/>
                        </a:spcBef>
                      </a:pPr>
                      <a:r>
                        <a:rPr dirty="0" sz="1100" spc="-50">
                          <a:solidFill>
                            <a:srgbClr val="21216E"/>
                          </a:solidFill>
                          <a:latin typeface="Consolas"/>
                          <a:cs typeface="Consolas"/>
                        </a:rPr>
                        <a:t>e</a:t>
                      </a:r>
                      <a:endParaRPr sz="1100">
                        <a:latin typeface="Consolas"/>
                        <a:cs typeface="Consolas"/>
                      </a:endParaRPr>
                    </a:p>
                    <a:p>
                      <a:pPr marL="782955">
                        <a:lnSpc>
                          <a:spcPts val="1290"/>
                        </a:lnSpc>
                      </a:pPr>
                      <a:r>
                        <a:rPr dirty="0" sz="1100" spc="-50">
                          <a:solidFill>
                            <a:srgbClr val="4499E2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marL="401955">
                        <a:lnSpc>
                          <a:spcPts val="129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e.s7</a:t>
                      </a:r>
                      <a:endParaRPr sz="1100">
                        <a:latin typeface="Consolas"/>
                        <a:cs typeface="Consolas"/>
                      </a:endParaRPr>
                    </a:p>
                    <a:p>
                      <a:pPr marL="403225">
                        <a:lnSpc>
                          <a:spcPts val="1290"/>
                        </a:lnSpc>
                      </a:pPr>
                      <a:r>
                        <a:rPr dirty="0" sz="110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</a:t>
                      </a:r>
                      <a:r>
                        <a:rPr dirty="0" sz="1100" spc="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3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marL="269240">
                        <a:lnSpc>
                          <a:spcPts val="129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1.ee</a:t>
                      </a:r>
                      <a:endParaRPr sz="1100">
                        <a:latin typeface="Consolas"/>
                        <a:cs typeface="Consolas"/>
                      </a:endParaRPr>
                    </a:p>
                    <a:p>
                      <a:pPr marL="264160">
                        <a:lnSpc>
                          <a:spcPts val="1290"/>
                        </a:lnSpc>
                      </a:pPr>
                      <a:r>
                        <a:rPr dirty="0" sz="1100" spc="3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ts val="1290"/>
                        </a:lnSpc>
                        <a:spcBef>
                          <a:spcPts val="459"/>
                        </a:spcBef>
                      </a:pPr>
                      <a:r>
                        <a:rPr dirty="0" sz="1100" spc="-2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e.s3</a:t>
                      </a:r>
                      <a:endParaRPr sz="1100">
                        <a:latin typeface="Consolas"/>
                        <a:cs typeface="Consolas"/>
                      </a:endParaRPr>
                    </a:p>
                    <a:p>
                      <a:pPr marL="335280">
                        <a:lnSpc>
                          <a:spcPts val="1290"/>
                        </a:lnSpc>
                      </a:pPr>
                      <a:r>
                        <a:rPr dirty="0" sz="1100" spc="5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e.ee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8419"/>
                </a:tc>
                <a:tc>
                  <a:txBody>
                    <a:bodyPr/>
                    <a:lstStyle/>
                    <a:p>
                      <a:pPr algn="r" marR="55244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900" spc="55">
                          <a:solidFill>
                            <a:srgbClr val="383838"/>
                          </a:solidFill>
                          <a:latin typeface="Calibri"/>
                          <a:cs typeface="Calibri"/>
                        </a:rPr>
                        <a:t>255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83820"/>
                </a:tc>
              </a:tr>
              <a:tr h="228600">
                <a:tc>
                  <a:txBody>
                    <a:bodyPr/>
                    <a:lstStyle/>
                    <a:p>
                      <a:pPr algn="r" marR="660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65">
                          <a:solidFill>
                            <a:srgbClr val="21216E"/>
                          </a:solidFill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900" spc="-70">
                          <a:solidFill>
                            <a:srgbClr val="21216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cuz•acy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11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46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5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</a:t>
                      </a:r>
                      <a:r>
                        <a:rPr dirty="0" sz="900" spc="23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900" spc="3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1120"/>
                </a:tc>
                <a:tc>
                  <a:txBody>
                    <a:bodyPr/>
                    <a:lstStyle/>
                    <a:p>
                      <a:pPr algn="r" marR="58419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900" spc="55">
                          <a:solidFill>
                            <a:srgbClr val="21216E"/>
                          </a:solidFill>
                          <a:latin typeface="Calibri"/>
                          <a:cs typeface="Calibri"/>
                        </a:rPr>
                        <a:t>29a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1120"/>
                </a:tc>
              </a:tr>
              <a:tr h="172085"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900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macz•o</a:t>
                      </a:r>
                      <a:r>
                        <a:rPr dirty="0" sz="900" spc="220">
                          <a:solidFill>
                            <a:srgbClr val="2D2D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172B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525"/>
                </a:tc>
                <a:tc>
                  <a:txBody>
                    <a:bodyPr/>
                    <a:lstStyle/>
                    <a:p>
                      <a:pPr algn="r" marR="123825">
                        <a:lnSpc>
                          <a:spcPts val="1210"/>
                        </a:lnSpc>
                      </a:pPr>
                      <a:r>
                        <a:rPr dirty="0" sz="1150" spc="4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e.aa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7150">
                        <a:lnSpc>
                          <a:spcPts val="1210"/>
                        </a:lnSpc>
                      </a:pPr>
                      <a:r>
                        <a:rPr dirty="0" sz="1150" spc="4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e.se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89535">
                        <a:lnSpc>
                          <a:spcPts val="1210"/>
                        </a:lnSpc>
                      </a:pPr>
                      <a:r>
                        <a:rPr dirty="0" sz="1150" spc="14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e.is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1435">
                        <a:lnSpc>
                          <a:spcPts val="1210"/>
                        </a:lnSpc>
                      </a:pPr>
                      <a:r>
                        <a:rPr dirty="0" sz="1150" spc="-25">
                          <a:solidFill>
                            <a:srgbClr val="21216E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44780">
                <a:tc>
                  <a:txBody>
                    <a:bodyPr/>
                    <a:lstStyle/>
                    <a:p>
                      <a:pPr algn="r" marR="66675">
                        <a:lnSpc>
                          <a:spcPts val="1040"/>
                        </a:lnSpc>
                      </a:pPr>
                      <a:r>
                        <a:rPr dirty="0" sz="950" spc="7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weighted</a:t>
                      </a:r>
                      <a:r>
                        <a:rPr dirty="0" sz="950" spc="38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45">
                          <a:solidFill>
                            <a:srgbClr val="2172BF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8270">
                        <a:lnSpc>
                          <a:spcPts val="1040"/>
                        </a:lnSpc>
                      </a:pPr>
                      <a:r>
                        <a:rPr dirty="0" sz="1050" spc="8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e.7s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5880">
                        <a:lnSpc>
                          <a:spcPts val="1040"/>
                        </a:lnSpc>
                      </a:pPr>
                      <a:r>
                        <a:rPr dirty="0" sz="1050" spc="85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e.s7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6520">
                        <a:lnSpc>
                          <a:spcPts val="1040"/>
                        </a:lnSpc>
                      </a:pPr>
                      <a:r>
                        <a:rPr dirty="0" sz="1050" spc="10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e.</a:t>
                      </a:r>
                      <a:r>
                        <a:rPr dirty="0" sz="1050" spc="45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6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z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040"/>
                        </a:lnSpc>
                      </a:pPr>
                      <a:r>
                        <a:rPr dirty="0" sz="1050" spc="95">
                          <a:solidFill>
                            <a:srgbClr val="21216E"/>
                          </a:solidFill>
                          <a:latin typeface="Calibri"/>
                          <a:cs typeface="Calibri"/>
                        </a:rPr>
                        <a:t>use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dirty="0" spc="-459"/>
              <a:t> </a:t>
            </a:r>
            <a:r>
              <a:rPr dirty="0" spc="-10"/>
              <a:t>Details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Dataset</a:t>
            </a:r>
            <a:r>
              <a:rPr dirty="0" spc="-30"/>
              <a:t> </a:t>
            </a:r>
            <a:r>
              <a:rPr dirty="0" spc="-10"/>
              <a:t>description:</a:t>
            </a: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/>
              <a:t>IBM</a:t>
            </a:r>
            <a:r>
              <a:rPr dirty="0" spc="-30"/>
              <a:t> </a:t>
            </a:r>
            <a:r>
              <a:rPr dirty="0"/>
              <a:t>HR</a:t>
            </a:r>
            <a:r>
              <a:rPr dirty="0" spc="-40"/>
              <a:t> </a:t>
            </a:r>
            <a:r>
              <a:rPr dirty="0"/>
              <a:t>Analytics</a:t>
            </a:r>
            <a:r>
              <a:rPr dirty="0" spc="-40"/>
              <a:t> </a:t>
            </a:r>
            <a:r>
              <a:rPr dirty="0"/>
              <a:t>(Kaggle)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35"/>
              <a:t> </a:t>
            </a:r>
            <a:r>
              <a:rPr dirty="0"/>
              <a:t>1470</a:t>
            </a:r>
            <a:r>
              <a:rPr dirty="0" spc="-30"/>
              <a:t> </a:t>
            </a:r>
            <a:r>
              <a:rPr dirty="0"/>
              <a:t>employees</a:t>
            </a:r>
            <a:r>
              <a:rPr dirty="0" spc="-40"/>
              <a:t> </a:t>
            </a:r>
            <a:r>
              <a:rPr dirty="0"/>
              <a:t>×</a:t>
            </a:r>
            <a:r>
              <a:rPr dirty="0" spc="-35"/>
              <a:t> </a:t>
            </a:r>
            <a:r>
              <a:rPr dirty="0"/>
              <a:t>35</a:t>
            </a:r>
            <a:r>
              <a:rPr dirty="0" spc="-25"/>
              <a:t> </a:t>
            </a:r>
            <a:r>
              <a:rPr dirty="0" spc="-10"/>
              <a:t>features</a:t>
            </a:r>
          </a:p>
          <a:p>
            <a:pPr marL="241300">
              <a:lnSpc>
                <a:spcPct val="100000"/>
              </a:lnSpc>
              <a:spcBef>
                <a:spcPts val="1290"/>
              </a:spcBef>
            </a:pPr>
            <a:r>
              <a:rPr dirty="0"/>
              <a:t>Key</a:t>
            </a:r>
            <a:r>
              <a:rPr dirty="0" spc="-35"/>
              <a:t> </a:t>
            </a:r>
            <a:r>
              <a:rPr dirty="0"/>
              <a:t>modules</a:t>
            </a:r>
            <a:r>
              <a:rPr dirty="0" spc="-40"/>
              <a:t> </a:t>
            </a:r>
            <a:r>
              <a:rPr dirty="0"/>
              <a:t>&amp;</a:t>
            </a:r>
            <a:r>
              <a:rPr dirty="0" spc="-40"/>
              <a:t> </a:t>
            </a:r>
            <a:r>
              <a:rPr dirty="0"/>
              <a:t>code</a:t>
            </a:r>
            <a:r>
              <a:rPr dirty="0" spc="-35"/>
              <a:t> </a:t>
            </a:r>
            <a:r>
              <a:rPr dirty="0" spc="-10"/>
              <a:t>snippets:</a:t>
            </a:r>
          </a:p>
          <a:p>
            <a:pPr marL="241300">
              <a:lnSpc>
                <a:spcPct val="100000"/>
              </a:lnSpc>
              <a:spcBef>
                <a:spcPts val="40"/>
              </a:spcBef>
            </a:pPr>
            <a:r>
              <a:rPr dirty="0" spc="-10"/>
              <a:t>```python</a:t>
            </a:r>
          </a:p>
          <a:p>
            <a:pPr marL="241300" marR="875665">
              <a:lnSpc>
                <a:spcPts val="2200"/>
              </a:lnSpc>
              <a:spcBef>
                <a:spcPts val="60"/>
              </a:spcBef>
            </a:pPr>
            <a:r>
              <a:rPr dirty="0"/>
              <a:t>X</a:t>
            </a:r>
            <a:r>
              <a:rPr dirty="0" spc="-30"/>
              <a:t> </a:t>
            </a:r>
            <a:r>
              <a:rPr dirty="0"/>
              <a:t>=</a:t>
            </a:r>
            <a:r>
              <a:rPr dirty="0" spc="-15"/>
              <a:t> </a:t>
            </a:r>
            <a:r>
              <a:rPr dirty="0" spc="-10"/>
              <a:t>df[['Age','MonthlyIncome','JobSatisfaction']] </a:t>
            </a:r>
            <a:r>
              <a:rPr dirty="0"/>
              <a:t>model</a:t>
            </a:r>
            <a:r>
              <a:rPr dirty="0" spc="40"/>
              <a:t> </a:t>
            </a:r>
            <a:r>
              <a:rPr dirty="0"/>
              <a:t>=</a:t>
            </a:r>
            <a:r>
              <a:rPr dirty="0" spc="35"/>
              <a:t> </a:t>
            </a:r>
            <a:r>
              <a:rPr dirty="0" spc="-10"/>
              <a:t>LogisticRegression().fit(X_train,</a:t>
            </a:r>
            <a:r>
              <a:rPr dirty="0" spc="35"/>
              <a:t> </a:t>
            </a:r>
            <a:r>
              <a:rPr dirty="0" spc="-10"/>
              <a:t>y_train)</a:t>
            </a:r>
          </a:p>
          <a:p>
            <a:pPr marL="241300">
              <a:lnSpc>
                <a:spcPts val="2125"/>
              </a:lnSpc>
            </a:pPr>
            <a:r>
              <a:rPr dirty="0"/>
              <a:t>accuracy</a:t>
            </a:r>
            <a:r>
              <a:rPr dirty="0" spc="-45"/>
              <a:t> </a:t>
            </a:r>
            <a:r>
              <a:rPr dirty="0"/>
              <a:t>=</a:t>
            </a:r>
            <a:r>
              <a:rPr dirty="0" spc="-45"/>
              <a:t> </a:t>
            </a:r>
            <a:r>
              <a:rPr dirty="0"/>
              <a:t>84%</a:t>
            </a:r>
            <a:r>
              <a:rPr dirty="0" spc="-45"/>
              <a:t> </a:t>
            </a:r>
            <a:r>
              <a:rPr dirty="0"/>
              <a:t>#</a:t>
            </a:r>
            <a:r>
              <a:rPr dirty="0" spc="-45"/>
              <a:t> </a:t>
            </a:r>
            <a:r>
              <a:rPr dirty="0"/>
              <a:t>Production</a:t>
            </a:r>
            <a:r>
              <a:rPr dirty="0" spc="-50"/>
              <a:t> </a:t>
            </a:r>
            <a:r>
              <a:rPr dirty="0" spc="-10"/>
              <a:t>ready!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605" y="3937253"/>
            <a:ext cx="9867900" cy="25173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225" y="416434"/>
            <a:ext cx="5875020" cy="5551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Results</a:t>
            </a:r>
            <a:r>
              <a:rPr dirty="0" spc="-135"/>
              <a:t> </a:t>
            </a:r>
            <a:r>
              <a:rPr dirty="0"/>
              <a:t>&amp;</a:t>
            </a:r>
            <a:r>
              <a:rPr dirty="0" spc="-125"/>
              <a:t> </a:t>
            </a:r>
            <a:r>
              <a:rPr dirty="0" spc="-10"/>
              <a:t>Output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29639" y="2392426"/>
            <a:ext cx="9867900" cy="3074035"/>
            <a:chOff x="929639" y="2392426"/>
            <a:chExt cx="9867900" cy="30740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259" y="2392426"/>
              <a:ext cx="5875020" cy="55626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39" y="2948686"/>
              <a:ext cx="9867900" cy="2517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639820"/>
            <a:ext cx="7642859" cy="3048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965200"/>
            <a:ext cx="5844540" cy="235457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0700" y="3380740"/>
            <a:ext cx="388620" cy="8382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96367" y="1376679"/>
            <a:ext cx="25082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75">
                <a:solidFill>
                  <a:srgbClr val="4F4F4F"/>
                </a:solidFill>
                <a:latin typeface="Consolas"/>
                <a:cs typeface="Consolas"/>
              </a:rPr>
              <a:t>lQOQ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6006" y="2048509"/>
            <a:ext cx="4127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4F4F4F"/>
                </a:solidFill>
                <a:latin typeface="Courier New"/>
                <a:cs typeface="Courier New"/>
              </a:rPr>
              <a:t>@</a:t>
            </a:r>
            <a:r>
              <a:rPr dirty="0" sz="1000" spc="210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1000" spc="-45">
                <a:solidFill>
                  <a:srgbClr val="3B3B3B"/>
                </a:solidFill>
                <a:latin typeface="Courier New"/>
                <a:cs typeface="Courier New"/>
              </a:rPr>
              <a:t>600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44471" y="2745740"/>
            <a:ext cx="21082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>
                <a:solidFill>
                  <a:srgbClr val="2D2D2D"/>
                </a:solidFill>
                <a:latin typeface="Consolas"/>
                <a:cs typeface="Consolas"/>
              </a:rPr>
              <a:t>200</a:t>
            </a:r>
            <a:endParaRPr sz="8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06700" y="3176270"/>
            <a:ext cx="1085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42424"/>
                </a:solidFill>
                <a:latin typeface="Courier New"/>
                <a:cs typeface="Courier New"/>
              </a:rPr>
              <a:t>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28961" y="555266"/>
            <a:ext cx="3446779" cy="58674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750" spc="-20">
                <a:solidFill>
                  <a:srgbClr val="9A6260"/>
                </a:solidFill>
                <a:latin typeface="Consolas"/>
                <a:cs typeface="Consolas"/>
              </a:rPr>
              <a:t>Matplotlib</a:t>
            </a:r>
            <a:r>
              <a:rPr dirty="0" sz="750" spc="-40">
                <a:solidFill>
                  <a:srgbClr val="9A62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is</a:t>
            </a:r>
            <a:r>
              <a:rPr dirty="0" sz="750" spc="-100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4485C3"/>
                </a:solidFill>
                <a:latin typeface="Consolas"/>
                <a:cs typeface="Consolas"/>
              </a:rPr>
              <a:t>building</a:t>
            </a:r>
            <a:r>
              <a:rPr dirty="0" sz="750" spc="-40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BF621C"/>
                </a:solidFill>
                <a:latin typeface="Consolas"/>
                <a:cs typeface="Consolas"/>
              </a:rPr>
              <a:t>tEe</a:t>
            </a:r>
            <a:r>
              <a:rPr dirty="0" sz="750" spc="-35">
                <a:solidFill>
                  <a:srgbClr val="BF621C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3D85"/>
                </a:solidFill>
                <a:latin typeface="Consolas"/>
                <a:cs typeface="Consolas"/>
              </a:rPr>
              <a:t>font</a:t>
            </a:r>
            <a:r>
              <a:rPr dirty="0" sz="750" spc="-80">
                <a:solidFill>
                  <a:srgbClr val="443D85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6E1C1C"/>
                </a:solidFill>
                <a:latin typeface="Consolas"/>
                <a:cs typeface="Consolas"/>
              </a:rPr>
              <a:t>cacEe;</a:t>
            </a:r>
            <a:r>
              <a:rPr dirty="0" sz="750" spc="-50">
                <a:solidFill>
                  <a:srgbClr val="6E1C1C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E2853B"/>
                </a:solidFill>
                <a:latin typeface="Consolas"/>
                <a:cs typeface="Consolas"/>
              </a:rPr>
              <a:t>tEis</a:t>
            </a:r>
            <a:r>
              <a:rPr dirty="0" sz="750" spc="-90">
                <a:solidFill>
                  <a:srgbClr val="E2853B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FFA360"/>
                </a:solidFill>
                <a:latin typeface="Consolas"/>
                <a:cs typeface="Consolas"/>
              </a:rPr>
              <a:t>say</a:t>
            </a:r>
            <a:r>
              <a:rPr dirty="0" sz="750" spc="-75">
                <a:solidFill>
                  <a:srgbClr val="FFA360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6EA3DD"/>
                </a:solidFill>
                <a:latin typeface="Consolas"/>
                <a:cs typeface="Consolas"/>
              </a:rPr>
              <a:t>take</a:t>
            </a:r>
            <a:r>
              <a:rPr dirty="0" sz="750" spc="-60">
                <a:solidFill>
                  <a:srgbClr val="6EA3DD"/>
                </a:solidFill>
                <a:latin typeface="Consolas"/>
                <a:cs typeface="Consolas"/>
              </a:rPr>
              <a:t> </a:t>
            </a:r>
            <a:r>
              <a:rPr dirty="0" sz="750">
                <a:solidFill>
                  <a:srgbClr val="4485C3"/>
                </a:solidFill>
                <a:latin typeface="Consolas"/>
                <a:cs typeface="Consolas"/>
              </a:rPr>
              <a:t>a</a:t>
            </a:r>
            <a:r>
              <a:rPr dirty="0" sz="750" spc="-75">
                <a:solidFill>
                  <a:srgbClr val="4485C3"/>
                </a:solidFill>
                <a:latin typeface="Consolas"/>
                <a:cs typeface="Consolas"/>
              </a:rPr>
              <a:t> </a:t>
            </a:r>
            <a:r>
              <a:rPr dirty="0" sz="750" spc="-10">
                <a:solidFill>
                  <a:srgbClr val="4485C3"/>
                </a:solidFill>
                <a:latin typeface="Consolas"/>
                <a:cs typeface="Consolas"/>
              </a:rPr>
              <a:t>mosent.</a:t>
            </a:r>
            <a:endParaRPr sz="750">
              <a:latin typeface="Consolas"/>
              <a:cs typeface="Consolas"/>
            </a:endParaRPr>
          </a:p>
          <a:p>
            <a:pPr marL="977265">
              <a:lnSpc>
                <a:spcPct val="100000"/>
              </a:lnSpc>
              <a:spcBef>
                <a:spcPts val="380"/>
              </a:spcBef>
            </a:pPr>
            <a:r>
              <a:rPr dirty="0" sz="1150">
                <a:latin typeface="Times New Roman"/>
                <a:cs typeface="Times New Roman"/>
              </a:rPr>
              <a:t>Ouitters</a:t>
            </a:r>
            <a:r>
              <a:rPr dirty="0" sz="1150" spc="70"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3D3D3D"/>
                </a:solidFill>
                <a:latin typeface="Times New Roman"/>
                <a:cs typeface="Times New Roman"/>
              </a:rPr>
              <a:t>(1)</a:t>
            </a:r>
            <a:r>
              <a:rPr dirty="0" sz="1150" spc="5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313131"/>
                </a:solidFill>
                <a:latin typeface="Times New Roman"/>
                <a:cs typeface="Times New Roman"/>
              </a:rPr>
              <a:t>vs</a:t>
            </a:r>
            <a:r>
              <a:rPr dirty="0" sz="1150" spc="-55">
                <a:solidFill>
                  <a:srgbClr val="31313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Stayers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3D3D3D"/>
                </a:solidFill>
                <a:latin typeface="Times New Roman"/>
                <a:cs typeface="Times New Roman"/>
              </a:rPr>
              <a:t>(0)</a:t>
            </a:r>
            <a:endParaRPr sz="11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430"/>
              </a:spcBef>
            </a:pPr>
            <a:r>
              <a:rPr dirty="0" sz="900" spc="-10">
                <a:solidFill>
                  <a:srgbClr val="161616"/>
                </a:solidFill>
                <a:latin typeface="Times New Roman"/>
                <a:cs typeface="Times New Roman"/>
              </a:rPr>
              <a:t>20000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61967" y="3333750"/>
            <a:ext cx="41020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Times New Roman"/>
                <a:cs typeface="Times New Roman"/>
              </a:rPr>
              <a:t>Atntion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49665" y="1245870"/>
            <a:ext cx="328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4D4D4D"/>
                </a:solidFill>
                <a:latin typeface="Times New Roman"/>
                <a:cs typeface="Times New Roman"/>
              </a:rPr>
              <a:t>17500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149665" y="2030729"/>
            <a:ext cx="328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A1A"/>
                </a:solidFill>
                <a:latin typeface="Times New Roman"/>
                <a:cs typeface="Times New Roman"/>
              </a:rPr>
              <a:t>10000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212158" y="2297429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3F3F3F"/>
                </a:solidFill>
                <a:latin typeface="Times New Roman"/>
                <a:cs typeface="Times New Roman"/>
              </a:rPr>
              <a:t>7500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91734" y="742950"/>
            <a:ext cx="16008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>
                <a:solidFill>
                  <a:srgbClr val="161616"/>
                </a:solidFill>
                <a:latin typeface="Times New Roman"/>
                <a:cs typeface="Times New Roman"/>
              </a:rPr>
              <a:t>Salary:</a:t>
            </a:r>
            <a:r>
              <a:rPr dirty="0" sz="1200" spc="-1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51515"/>
                </a:solidFill>
                <a:latin typeface="Times New Roman"/>
                <a:cs typeface="Times New Roman"/>
              </a:rPr>
              <a:t>Ouitters</a:t>
            </a:r>
            <a:r>
              <a:rPr dirty="0" sz="1200" spc="25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2D2D2D"/>
                </a:solidFill>
                <a:latin typeface="Times New Roman"/>
                <a:cs typeface="Times New Roman"/>
              </a:rPr>
              <a:t>vs</a:t>
            </a:r>
            <a:r>
              <a:rPr dirty="0" sz="1200" spc="-45">
                <a:solidFill>
                  <a:srgbClr val="2D2D2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61616"/>
                </a:solidFill>
                <a:latin typeface="Times New Roman"/>
                <a:cs typeface="Times New Roman"/>
              </a:rPr>
              <a:t>Stayers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25639" y="3188970"/>
            <a:ext cx="927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45454"/>
                </a:solidFill>
                <a:latin typeface="Courier New"/>
                <a:cs typeface="Courier New"/>
              </a:rPr>
              <a:t>0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87348" y="3176270"/>
            <a:ext cx="844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latin typeface="Consolas"/>
                <a:cs typeface="Consolas"/>
              </a:rPr>
              <a:t>1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Testing</a:t>
            </a:r>
            <a:r>
              <a:rPr dirty="0" spc="-135"/>
              <a:t> </a:t>
            </a:r>
            <a:r>
              <a:rPr dirty="0"/>
              <a:t>&amp;</a:t>
            </a:r>
            <a:r>
              <a:rPr dirty="0" spc="-125"/>
              <a:t> </a:t>
            </a:r>
            <a:r>
              <a:rPr dirty="0" spc="-10"/>
              <a:t>Validation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7050" y="1300098"/>
            <a:ext cx="5087620" cy="2557780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403225">
              <a:lnSpc>
                <a:spcPct val="100000"/>
              </a:lnSpc>
              <a:spcBef>
                <a:spcPts val="365"/>
              </a:spcBef>
            </a:pPr>
            <a:r>
              <a:rPr dirty="0" sz="1800" b="1">
                <a:latin typeface="Calibri"/>
                <a:cs typeface="Calibri"/>
              </a:rPr>
              <a:t>Types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 testing</a:t>
            </a:r>
            <a:r>
              <a:rPr dirty="0" sz="1800" spc="-10" b="1">
                <a:latin typeface="Calibri"/>
                <a:cs typeface="Calibri"/>
              </a:rPr>
              <a:t> performed:</a:t>
            </a:r>
            <a:endParaRPr sz="1800">
              <a:latin typeface="Calibri"/>
              <a:cs typeface="Calibri"/>
            </a:endParaRPr>
          </a:p>
          <a:p>
            <a:pPr marL="627380" indent="-224154">
              <a:lnSpc>
                <a:spcPct val="100000"/>
              </a:lnSpc>
              <a:spcBef>
                <a:spcPts val="270"/>
              </a:spcBef>
              <a:buFont typeface="Segoe UI Symbol"/>
              <a:buChar char="✓"/>
              <a:tabLst>
                <a:tab pos="627380" algn="l"/>
              </a:tabLst>
            </a:pPr>
            <a:r>
              <a:rPr dirty="0" sz="1800" b="1">
                <a:latin typeface="Calibri"/>
                <a:cs typeface="Calibri"/>
              </a:rPr>
              <a:t>Train/Test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split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validation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(80/20)</a:t>
            </a:r>
            <a:endParaRPr sz="1800">
              <a:latin typeface="Calibri"/>
              <a:cs typeface="Calibri"/>
            </a:endParaRPr>
          </a:p>
          <a:p>
            <a:pPr marL="627380" indent="-224154">
              <a:lnSpc>
                <a:spcPct val="100000"/>
              </a:lnSpc>
              <a:spcBef>
                <a:spcPts val="265"/>
              </a:spcBef>
              <a:buFont typeface="Segoe UI Symbol"/>
              <a:buChar char="✓"/>
              <a:tabLst>
                <a:tab pos="627380" algn="l"/>
              </a:tabLst>
            </a:pPr>
            <a:r>
              <a:rPr dirty="0" sz="1800" b="1">
                <a:latin typeface="Calibri"/>
                <a:cs typeface="Calibri"/>
              </a:rPr>
              <a:t>Accuracy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testing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unseen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627380" indent="-224154">
              <a:lnSpc>
                <a:spcPct val="100000"/>
              </a:lnSpc>
              <a:spcBef>
                <a:spcPts val="265"/>
              </a:spcBef>
              <a:buFont typeface="Segoe UI Symbol"/>
              <a:buChar char="✓"/>
              <a:tabLst>
                <a:tab pos="627380" algn="l"/>
              </a:tabLst>
            </a:pPr>
            <a:r>
              <a:rPr dirty="0" sz="1800" b="1">
                <a:latin typeface="Calibri"/>
                <a:cs typeface="Calibri"/>
              </a:rPr>
              <a:t>Visual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analysis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(distribution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charts)</a:t>
            </a:r>
            <a:endParaRPr sz="1800">
              <a:latin typeface="Calibri"/>
              <a:cs typeface="Calibri"/>
            </a:endParaRPr>
          </a:p>
          <a:p>
            <a:pPr marL="627380" indent="-224154">
              <a:lnSpc>
                <a:spcPct val="100000"/>
              </a:lnSpc>
              <a:spcBef>
                <a:spcPts val="265"/>
              </a:spcBef>
              <a:buFont typeface="Segoe UI Symbol"/>
              <a:buChar char="✓"/>
              <a:tabLst>
                <a:tab pos="627380" algn="l"/>
              </a:tabLst>
            </a:pPr>
            <a:r>
              <a:rPr dirty="0" sz="1800" b="1">
                <a:latin typeface="Calibri"/>
                <a:cs typeface="Calibri"/>
              </a:rPr>
              <a:t>Feature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importance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validation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800">
                <a:latin typeface="Calibri"/>
                <a:cs typeface="Calibri"/>
              </a:rPr>
              <a:t>Test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outcomes: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Calibri"/>
                <a:cs typeface="Calibri"/>
              </a:rPr>
              <a:t>294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test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employees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→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84%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correctly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predicted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successfully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identifies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low-</a:t>
            </a:r>
            <a:r>
              <a:rPr dirty="0" sz="1800">
                <a:latin typeface="Calibri"/>
                <a:cs typeface="Calibri"/>
              </a:rPr>
              <a:t>salary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high-</a:t>
            </a:r>
            <a:r>
              <a:rPr dirty="0" sz="1800">
                <a:latin typeface="Calibri"/>
                <a:cs typeface="Calibri"/>
              </a:rPr>
              <a:t>risk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cases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 marR="5080">
              <a:lnSpc>
                <a:spcPts val="4730"/>
              </a:lnSpc>
              <a:spcBef>
                <a:spcPts val="715"/>
              </a:spcBef>
            </a:pPr>
            <a:r>
              <a:rPr dirty="0"/>
              <a:t>Conclusion</a:t>
            </a:r>
            <a:r>
              <a:rPr dirty="0" spc="-140"/>
              <a:t> </a:t>
            </a:r>
            <a:r>
              <a:rPr dirty="0"/>
              <a:t>and</a:t>
            </a:r>
            <a:r>
              <a:rPr dirty="0" spc="-150"/>
              <a:t> </a:t>
            </a:r>
            <a:r>
              <a:rPr dirty="0" spc="-10"/>
              <a:t>Future </a:t>
            </a:r>
            <a:r>
              <a:rPr dirty="0" spc="-10"/>
              <a:t>e</a:t>
            </a:r>
            <a:r>
              <a:rPr dirty="0" spc="-10"/>
              <a:t>nhancements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7892" y="1980056"/>
            <a:ext cx="4577715" cy="3316604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800">
                <a:latin typeface="Calibri"/>
                <a:cs typeface="Calibri"/>
              </a:rPr>
              <a:t>Summary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work</a:t>
            </a:r>
            <a:r>
              <a:rPr dirty="0" sz="1800" spc="-20">
                <a:latin typeface="Calibri"/>
                <a:cs typeface="Calibri"/>
              </a:rPr>
              <a:t> done: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800" spc="-49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dirty="0" sz="1800" spc="62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-125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dirty="0" sz="1800">
                <a:latin typeface="Calibri"/>
                <a:cs typeface="Calibri"/>
              </a:rPr>
              <a:t>Built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84%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accurate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attrition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800" spc="-49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dirty="0" sz="1800" spc="62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-120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dirty="0" sz="1800">
                <a:latin typeface="Calibri"/>
                <a:cs typeface="Calibri"/>
              </a:rPr>
              <a:t>Analyzed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IBM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dataset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(1470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records)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800" spc="-1839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409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dirty="0" sz="1800">
                <a:latin typeface="Calibri"/>
                <a:cs typeface="Calibri"/>
              </a:rPr>
              <a:t>Delivered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actionable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business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insights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800" spc="-49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dirty="0" sz="1800" spc="62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dirty="0" sz="1800" spc="-114">
                <a:solidFill>
                  <a:srgbClr val="00D26A"/>
                </a:solidFill>
                <a:latin typeface="Segoe UI Emoji"/>
                <a:cs typeface="Segoe UI Emoji"/>
              </a:rPr>
              <a:t> </a:t>
            </a:r>
            <a:r>
              <a:rPr dirty="0" sz="1800" spc="-10">
                <a:latin typeface="Calibri"/>
                <a:cs typeface="Calibri"/>
              </a:rPr>
              <a:t>Production-</a:t>
            </a:r>
            <a:r>
              <a:rPr dirty="0" sz="1800">
                <a:latin typeface="Calibri"/>
                <a:cs typeface="Calibri"/>
              </a:rPr>
              <a:t>ready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pipeline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complete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Future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enhancements: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15"/>
              </a:spcBef>
              <a:buChar char="•"/>
              <a:tabLst>
                <a:tab pos="177800" algn="l"/>
              </a:tabLst>
            </a:pPr>
            <a:r>
              <a:rPr dirty="0" sz="1800">
                <a:latin typeface="Calibri"/>
                <a:cs typeface="Calibri"/>
              </a:rPr>
              <a:t>Web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application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deployment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(Streamlit)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40"/>
              </a:spcBef>
              <a:buChar char="•"/>
              <a:tabLst>
                <a:tab pos="177800" algn="l"/>
              </a:tabLst>
            </a:pPr>
            <a:r>
              <a:rPr dirty="0" sz="1800" spc="-1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employee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monitoring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dashboard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40"/>
              </a:spcBef>
              <a:buChar char="•"/>
              <a:tabLst>
                <a:tab pos="177800" algn="l"/>
              </a:tabLst>
            </a:pPr>
            <a:r>
              <a:rPr dirty="0" sz="1800">
                <a:latin typeface="Calibri"/>
                <a:cs typeface="Calibri"/>
              </a:rPr>
              <a:t>Additional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demographic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features</a:t>
            </a:r>
            <a:endParaRPr sz="1800">
              <a:latin typeface="Calibri"/>
              <a:cs typeface="Calibri"/>
            </a:endParaRPr>
          </a:p>
          <a:p>
            <a:pPr marL="177800" indent="-165100">
              <a:lnSpc>
                <a:spcPct val="100000"/>
              </a:lnSpc>
              <a:spcBef>
                <a:spcPts val="45"/>
              </a:spcBef>
              <a:buChar char="•"/>
              <a:tabLst>
                <a:tab pos="177800" algn="l"/>
              </a:tabLst>
            </a:pPr>
            <a:r>
              <a:rPr dirty="0" sz="1800">
                <a:latin typeface="Calibri"/>
                <a:cs typeface="Calibri"/>
              </a:rPr>
              <a:t>Mobile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892" y="295211"/>
            <a:ext cx="33667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7092" y="1086484"/>
            <a:ext cx="26600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mbria"/>
                <a:cs typeface="Cambria"/>
              </a:rPr>
              <a:t>Papers,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books,</a:t>
            </a:r>
            <a:r>
              <a:rPr dirty="0" sz="2000" spc="-75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websites: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5967" y="1544065"/>
            <a:ext cx="3591560" cy="1199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40029" algn="l"/>
              </a:tabLst>
            </a:pPr>
            <a:r>
              <a:rPr dirty="0" sz="1200">
                <a:latin typeface="Cambria"/>
                <a:cs typeface="Cambria"/>
              </a:rPr>
              <a:t>IBM</a:t>
            </a:r>
            <a:r>
              <a:rPr dirty="0" sz="1200" spc="-3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HR</a:t>
            </a:r>
            <a:r>
              <a:rPr dirty="0" sz="1200" spc="-2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Analytics</a:t>
            </a:r>
            <a:r>
              <a:rPr dirty="0" sz="1200" spc="-1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Dataset</a:t>
            </a:r>
            <a:r>
              <a:rPr dirty="0" sz="1200" spc="-1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-</a:t>
            </a:r>
            <a:r>
              <a:rPr dirty="0" sz="1200" spc="-2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Kaggle</a:t>
            </a:r>
            <a:r>
              <a:rPr dirty="0" sz="1200" spc="-3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(2017)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40029" algn="l"/>
              </a:tabLst>
            </a:pPr>
            <a:r>
              <a:rPr dirty="0" sz="1200" spc="-10">
                <a:latin typeface="Cambria"/>
                <a:cs typeface="Cambria"/>
              </a:rPr>
              <a:t>Scikit-</a:t>
            </a:r>
            <a:r>
              <a:rPr dirty="0" sz="1200">
                <a:latin typeface="Cambria"/>
                <a:cs typeface="Cambria"/>
              </a:rPr>
              <a:t>learn Logistic</a:t>
            </a:r>
            <a:r>
              <a:rPr dirty="0" sz="1200" spc="-10">
                <a:latin typeface="Cambria"/>
                <a:cs typeface="Cambria"/>
              </a:rPr>
              <a:t> Regression</a:t>
            </a:r>
            <a:r>
              <a:rPr dirty="0" sz="120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Documentation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40029" algn="l"/>
              </a:tabLst>
            </a:pPr>
            <a:r>
              <a:rPr dirty="0" sz="1200" spc="-10">
                <a:latin typeface="Cambria"/>
                <a:cs typeface="Cambria"/>
              </a:rPr>
              <a:t>"Predictive</a:t>
            </a:r>
            <a:r>
              <a:rPr dirty="0" sz="1200" spc="-3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Analytics</a:t>
            </a:r>
            <a:r>
              <a:rPr dirty="0" sz="1200" spc="-1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for</a:t>
            </a:r>
            <a:r>
              <a:rPr dirty="0" sz="1200" spc="-2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Human</a:t>
            </a:r>
            <a:r>
              <a:rPr dirty="0" sz="1200" spc="-2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Resources"</a:t>
            </a:r>
            <a:r>
              <a:rPr dirty="0" sz="1200" spc="-2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(2018)</a:t>
            </a:r>
            <a:endParaRPr sz="12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1160"/>
              </a:spcBef>
              <a:buAutoNum type="arabicPeriod"/>
              <a:tabLst>
                <a:tab pos="240029" algn="l"/>
              </a:tabLst>
            </a:pPr>
            <a:r>
              <a:rPr dirty="0" sz="1200">
                <a:latin typeface="Cambria"/>
                <a:cs typeface="Cambria"/>
              </a:rPr>
              <a:t>Amrita</a:t>
            </a:r>
            <a:r>
              <a:rPr dirty="0" sz="1200" spc="-20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Vishwa</a:t>
            </a:r>
            <a:r>
              <a:rPr dirty="0" sz="1200" spc="-15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Vidyapeetham</a:t>
            </a:r>
            <a:r>
              <a:rPr dirty="0" sz="1200">
                <a:latin typeface="Cambria"/>
                <a:cs typeface="Cambria"/>
              </a:rPr>
              <a:t> </a:t>
            </a:r>
            <a:r>
              <a:rPr dirty="0" sz="1200" spc="-10">
                <a:latin typeface="Cambria"/>
                <a:cs typeface="Cambria"/>
              </a:rPr>
              <a:t>Guidelines</a:t>
            </a:r>
            <a:r>
              <a:rPr dirty="0" sz="1200" spc="5">
                <a:latin typeface="Cambria"/>
                <a:cs typeface="Cambria"/>
              </a:rPr>
              <a:t> </a:t>
            </a:r>
            <a:r>
              <a:rPr dirty="0" sz="1200">
                <a:latin typeface="Cambria"/>
                <a:cs typeface="Cambria"/>
              </a:rPr>
              <a:t>from </a:t>
            </a:r>
            <a:r>
              <a:rPr dirty="0" sz="1200" spc="-25">
                <a:latin typeface="Cambria"/>
                <a:cs typeface="Cambria"/>
              </a:rPr>
              <a:t>LMS</a:t>
            </a:r>
            <a:endParaRPr sz="1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611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2660" y="2334092"/>
            <a:ext cx="7665084" cy="2272030"/>
          </a:xfrm>
          <a:prstGeom prst="rect"/>
        </p:spPr>
        <p:txBody>
          <a:bodyPr wrap="square" lIns="0" tIns="1092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dirty="0" sz="12000">
                <a:solidFill>
                  <a:srgbClr val="FFFFFF"/>
                </a:solidFill>
                <a:latin typeface="Calibri"/>
                <a:cs typeface="Calibri"/>
              </a:rPr>
              <a:t>THANK </a:t>
            </a:r>
            <a:r>
              <a:rPr dirty="0" sz="12000" spc="-25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endParaRPr sz="12000">
              <a:latin typeface="Calibri"/>
              <a:cs typeface="Calibri"/>
            </a:endParaRPr>
          </a:p>
          <a:p>
            <a:pPr algn="ctr" marL="62865">
              <a:lnSpc>
                <a:spcPct val="100000"/>
              </a:lnSpc>
              <a:spcBef>
                <a:spcPts val="125"/>
              </a:spcBef>
            </a:pPr>
            <a:r>
              <a:rPr dirty="0" sz="2000" spc="-10" b="0">
                <a:solidFill>
                  <a:srgbClr val="FFFFFF"/>
                </a:solidFill>
                <a:latin typeface="Arial MT"/>
                <a:cs typeface="Arial MT"/>
              </a:rPr>
              <a:t>onlineamrita.com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2026-01-11T16:56:55Z</dcterms:created>
  <dcterms:modified xsi:type="dcterms:W3CDTF">2026-01-11T16:56:55Z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2026-01-11T00:00:00Z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2026-01-11T00:00:00Z</vt:filetime>
  </property>
</Properties>
</file>